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73" r:id="rId5"/>
    <p:sldId id="279" r:id="rId6"/>
    <p:sldId id="260" r:id="rId7"/>
    <p:sldId id="262" r:id="rId8"/>
    <p:sldId id="263" r:id="rId9"/>
    <p:sldId id="261" r:id="rId10"/>
    <p:sldId id="264" r:id="rId11"/>
    <p:sldId id="265" r:id="rId12"/>
    <p:sldId id="267" r:id="rId13"/>
    <p:sldId id="268" r:id="rId14"/>
    <p:sldId id="269" r:id="rId15"/>
    <p:sldId id="274" r:id="rId16"/>
    <p:sldId id="276" r:id="rId17"/>
    <p:sldId id="278" r:id="rId18"/>
    <p:sldId id="277" r:id="rId19"/>
    <p:sldId id="271" r:id="rId20"/>
    <p:sldId id="272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730752-EE42-4274-948E-AF932005F112}" v="1202" dt="2026-09-30T06:29:54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71652" autoAdjust="0"/>
  </p:normalViewPr>
  <p:slideViewPr>
    <p:cSldViewPr snapToGrid="0">
      <p:cViewPr varScale="1">
        <p:scale>
          <a:sx n="68" d="100"/>
          <a:sy n="68" d="100"/>
        </p:scale>
        <p:origin x="96" y="21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404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01058868446a@gmail.com" userId="b28250bd2b7e88d3" providerId="LiveId" clId="{E3826418-E712-43D4-9CD5-F35E812D8224}"/>
    <pc:docChg chg="undo redo custSel addSld delSld modSld sldOrd">
      <pc:chgData name="01058868446a@gmail.com" userId="b28250bd2b7e88d3" providerId="LiveId" clId="{E3826418-E712-43D4-9CD5-F35E812D8224}" dt="2026-09-30T06:31:00.205" v="6852" actId="20577"/>
      <pc:docMkLst>
        <pc:docMk/>
      </pc:docMkLst>
      <pc:sldChg chg="modSp mod">
        <pc:chgData name="01058868446a@gmail.com" userId="b28250bd2b7e88d3" providerId="LiveId" clId="{E3826418-E712-43D4-9CD5-F35E812D8224}" dt="2026-09-30T06:08:30.646" v="6800"/>
        <pc:sldMkLst>
          <pc:docMk/>
          <pc:sldMk cId="1133772404" sldId="256"/>
        </pc:sldMkLst>
        <pc:spChg chg="mod">
          <ac:chgData name="01058868446a@gmail.com" userId="b28250bd2b7e88d3" providerId="LiveId" clId="{E3826418-E712-43D4-9CD5-F35E812D8224}" dt="2026-09-30T06:08:30.646" v="6800"/>
          <ac:spMkLst>
            <pc:docMk/>
            <pc:sldMk cId="1133772404" sldId="256"/>
            <ac:spMk id="2" creationId="{00000000-0000-0000-0000-000000000000}"/>
          </ac:spMkLst>
        </pc:spChg>
        <pc:spChg chg="mod">
          <ac:chgData name="01058868446a@gmail.com" userId="b28250bd2b7e88d3" providerId="LiveId" clId="{E3826418-E712-43D4-9CD5-F35E812D8224}" dt="2026-09-28T07:53:31.792" v="26" actId="20577"/>
          <ac:spMkLst>
            <pc:docMk/>
            <pc:sldMk cId="1133772404" sldId="256"/>
            <ac:spMk id="3" creationId="{00000000-0000-0000-0000-000000000000}"/>
          </ac:spMkLst>
        </pc:spChg>
      </pc:sldChg>
      <pc:sldChg chg="addSp delSp modSp mod">
        <pc:chgData name="01058868446a@gmail.com" userId="b28250bd2b7e88d3" providerId="LiveId" clId="{E3826418-E712-43D4-9CD5-F35E812D8224}" dt="2026-09-30T06:11:28.636" v="6802" actId="27636"/>
        <pc:sldMkLst>
          <pc:docMk/>
          <pc:sldMk cId="460081103" sldId="258"/>
        </pc:sldMkLst>
        <pc:spChg chg="add del mod">
          <ac:chgData name="01058868446a@gmail.com" userId="b28250bd2b7e88d3" providerId="LiveId" clId="{E3826418-E712-43D4-9CD5-F35E812D8224}" dt="2026-09-30T06:11:28.636" v="6802" actId="27636"/>
          <ac:spMkLst>
            <pc:docMk/>
            <pc:sldMk cId="460081103" sldId="258"/>
            <ac:spMk id="4" creationId="{00000000-0000-0000-0000-000000000000}"/>
          </ac:spMkLst>
        </pc:spChg>
      </pc:sldChg>
      <pc:sldChg chg="addSp delSp modSp add mod">
        <pc:chgData name="01058868446a@gmail.com" userId="b28250bd2b7e88d3" providerId="LiveId" clId="{E3826418-E712-43D4-9CD5-F35E812D8224}" dt="2026-09-28T07:59:56.126" v="540" actId="478"/>
        <pc:sldMkLst>
          <pc:docMk/>
          <pc:sldMk cId="4181550118" sldId="259"/>
        </pc:sldMkLst>
        <pc:spChg chg="mod">
          <ac:chgData name="01058868446a@gmail.com" userId="b28250bd2b7e88d3" providerId="LiveId" clId="{E3826418-E712-43D4-9CD5-F35E812D8224}" dt="2026-09-28T07:59:34.886" v="538" actId="20577"/>
          <ac:spMkLst>
            <pc:docMk/>
            <pc:sldMk cId="4181550118" sldId="259"/>
            <ac:spMk id="2" creationId="{1EFAD20C-969B-7846-E65A-F71A0EEAECE6}"/>
          </ac:spMkLst>
        </pc:spChg>
      </pc:sldChg>
      <pc:sldChg chg="modSp add mod">
        <pc:chgData name="01058868446a@gmail.com" userId="b28250bd2b7e88d3" providerId="LiveId" clId="{E3826418-E712-43D4-9CD5-F35E812D8224}" dt="2026-09-30T06:24:46.786" v="6811" actId="20577"/>
        <pc:sldMkLst>
          <pc:docMk/>
          <pc:sldMk cId="4279762294" sldId="260"/>
        </pc:sldMkLst>
        <pc:spChg chg="mod">
          <ac:chgData name="01058868446a@gmail.com" userId="b28250bd2b7e88d3" providerId="LiveId" clId="{E3826418-E712-43D4-9CD5-F35E812D8224}" dt="2026-09-30T06:24:46.786" v="6811" actId="20577"/>
          <ac:spMkLst>
            <pc:docMk/>
            <pc:sldMk cId="4279762294" sldId="260"/>
            <ac:spMk id="2" creationId="{8E531D0E-3044-329F-81D8-C1C047E374AB}"/>
          </ac:spMkLst>
        </pc:spChg>
        <pc:spChg chg="mod">
          <ac:chgData name="01058868446a@gmail.com" userId="b28250bd2b7e88d3" providerId="LiveId" clId="{E3826418-E712-43D4-9CD5-F35E812D8224}" dt="2026-09-30T02:23:56.508" v="2383" actId="20577"/>
          <ac:spMkLst>
            <pc:docMk/>
            <pc:sldMk cId="4279762294" sldId="260"/>
            <ac:spMk id="4" creationId="{934E11F6-C2AD-93E5-7D7D-04CBCEEC55BC}"/>
          </ac:spMkLst>
        </pc:spChg>
      </pc:sldChg>
      <pc:sldChg chg="addSp delSp modSp add mod">
        <pc:chgData name="01058868446a@gmail.com" userId="b28250bd2b7e88d3" providerId="LiveId" clId="{E3826418-E712-43D4-9CD5-F35E812D8224}" dt="2026-09-30T02:28:49.116" v="2496" actId="22"/>
        <pc:sldMkLst>
          <pc:docMk/>
          <pc:sldMk cId="1722140573" sldId="261"/>
        </pc:sldMkLst>
        <pc:spChg chg="del mod">
          <ac:chgData name="01058868446a@gmail.com" userId="b28250bd2b7e88d3" providerId="LiveId" clId="{E3826418-E712-43D4-9CD5-F35E812D8224}" dt="2026-09-30T02:28:03.803" v="2490" actId="478"/>
          <ac:spMkLst>
            <pc:docMk/>
            <pc:sldMk cId="1722140573" sldId="261"/>
            <ac:spMk id="2" creationId="{4CF11A68-F378-C261-3694-9EDA49A837BF}"/>
          </ac:spMkLst>
        </pc:spChg>
        <pc:spChg chg="add mod">
          <ac:chgData name="01058868446a@gmail.com" userId="b28250bd2b7e88d3" providerId="LiveId" clId="{E3826418-E712-43D4-9CD5-F35E812D8224}" dt="2026-09-30T02:28:02.417" v="2489"/>
          <ac:spMkLst>
            <pc:docMk/>
            <pc:sldMk cId="1722140573" sldId="261"/>
            <ac:spMk id="3" creationId="{B69A7FEE-4D7B-658B-0B6B-40F5107C285A}"/>
          </ac:spMkLst>
        </pc:spChg>
        <pc:spChg chg="mod">
          <ac:chgData name="01058868446a@gmail.com" userId="b28250bd2b7e88d3" providerId="LiveId" clId="{E3826418-E712-43D4-9CD5-F35E812D8224}" dt="2026-09-28T08:51:12.883" v="2108" actId="20577"/>
          <ac:spMkLst>
            <pc:docMk/>
            <pc:sldMk cId="1722140573" sldId="261"/>
            <ac:spMk id="4" creationId="{FC1C6EEC-367A-27C5-3F72-AF61B19D394D}"/>
          </ac:spMkLst>
        </pc:spChg>
        <pc:spChg chg="add mod">
          <ac:chgData name="01058868446a@gmail.com" userId="b28250bd2b7e88d3" providerId="LiveId" clId="{E3826418-E712-43D4-9CD5-F35E812D8224}" dt="2026-09-30T02:28:23.136" v="2493"/>
          <ac:spMkLst>
            <pc:docMk/>
            <pc:sldMk cId="1722140573" sldId="261"/>
            <ac:spMk id="6" creationId="{2BEAB458-48C3-CD9B-96B3-5091269D253A}"/>
          </ac:spMkLst>
        </pc:spChg>
        <pc:spChg chg="add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8" creationId="{5352F29D-F470-0517-B9EF-D0719A028202}"/>
          </ac:spMkLst>
        </pc:spChg>
        <pc:spChg chg="add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10" creationId="{F4E7CF5C-4517-03A6-D89D-E9EDCF1DDE52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12" creationId="{59AE98F6-BFE6-7B77-8463-144C48E95CA8}"/>
          </ac:spMkLst>
        </pc:spChg>
        <pc:spChg chg="del">
          <ac:chgData name="01058868446a@gmail.com" userId="b28250bd2b7e88d3" providerId="LiveId" clId="{E3826418-E712-43D4-9CD5-F35E812D8224}" dt="2026-09-30T02:28:46.169" v="2495" actId="22"/>
          <ac:spMkLst>
            <pc:docMk/>
            <pc:sldMk cId="1722140573" sldId="261"/>
            <ac:spMk id="14" creationId="{A91C7DD7-C5BA-04ED-F745-FD590C4AEFF8}"/>
          </ac:spMkLst>
        </pc:spChg>
        <pc:spChg chg="del">
          <ac:chgData name="01058868446a@gmail.com" userId="b28250bd2b7e88d3" providerId="LiveId" clId="{E3826418-E712-43D4-9CD5-F35E812D8224}" dt="2026-09-30T02:28:46.169" v="2495" actId="22"/>
          <ac:spMkLst>
            <pc:docMk/>
            <pc:sldMk cId="1722140573" sldId="261"/>
            <ac:spMk id="16" creationId="{DE5689E6-428C-196A-1B28-C4AC38FB6549}"/>
          </ac:spMkLst>
        </pc:spChg>
        <pc:spChg chg="del">
          <ac:chgData name="01058868446a@gmail.com" userId="b28250bd2b7e88d3" providerId="LiveId" clId="{E3826418-E712-43D4-9CD5-F35E812D8224}" dt="2026-09-30T02:28:46.169" v="2495" actId="22"/>
          <ac:spMkLst>
            <pc:docMk/>
            <pc:sldMk cId="1722140573" sldId="261"/>
            <ac:spMk id="18" creationId="{1FAEE5C7-3E7D-D86E-DB48-06F06324C62B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20" creationId="{3E734F84-E360-7F11-90EE-6382FB4DDADD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22" creationId="{E12FB5FA-BECE-DCA1-5319-89BD17E98DB0}"/>
          </ac:spMkLst>
        </pc:spChg>
        <pc:spChg chg="del">
          <ac:chgData name="01058868446a@gmail.com" userId="b28250bd2b7e88d3" providerId="LiveId" clId="{E3826418-E712-43D4-9CD5-F35E812D8224}" dt="2026-09-30T02:28:46.169" v="2495" actId="22"/>
          <ac:spMkLst>
            <pc:docMk/>
            <pc:sldMk cId="1722140573" sldId="261"/>
            <ac:spMk id="26" creationId="{920B0FC2-591F-1C52-35BA-645328E983F9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30" creationId="{16822882-0054-6572-8357-D74DB3C78099}"/>
          </ac:spMkLst>
        </pc:spChg>
        <pc:spChg chg="add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32" creationId="{FFB4907C-C8EA-3C7E-452F-870C87FB6BBB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34" creationId="{463D38C4-8D89-41B2-A805-99EECE0BAC30}"/>
          </ac:spMkLst>
        </pc:spChg>
        <pc:spChg chg="add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36" creationId="{AC4FF1F7-E514-8257-B922-6F8A0E94B053}"/>
          </ac:spMkLst>
        </pc:spChg>
        <pc:spChg chg="add del">
          <ac:chgData name="01058868446a@gmail.com" userId="b28250bd2b7e88d3" providerId="LiveId" clId="{E3826418-E712-43D4-9CD5-F35E812D8224}" dt="2026-09-30T02:28:49.116" v="2496" actId="22"/>
          <ac:spMkLst>
            <pc:docMk/>
            <pc:sldMk cId="1722140573" sldId="261"/>
            <ac:spMk id="40" creationId="{493477D9-6D72-EDFD-3EBB-472038DCA051}"/>
          </ac:spMkLst>
        </pc:spChg>
      </pc:sldChg>
      <pc:sldChg chg="modSp add mod">
        <pc:chgData name="01058868446a@gmail.com" userId="b28250bd2b7e88d3" providerId="LiveId" clId="{E3826418-E712-43D4-9CD5-F35E812D8224}" dt="2026-09-28T08:17:59.309" v="1764" actId="20577"/>
        <pc:sldMkLst>
          <pc:docMk/>
          <pc:sldMk cId="1376205032" sldId="262"/>
        </pc:sldMkLst>
        <pc:spChg chg="mod">
          <ac:chgData name="01058868446a@gmail.com" userId="b28250bd2b7e88d3" providerId="LiveId" clId="{E3826418-E712-43D4-9CD5-F35E812D8224}" dt="2026-09-28T08:17:59.309" v="1764" actId="20577"/>
          <ac:spMkLst>
            <pc:docMk/>
            <pc:sldMk cId="1376205032" sldId="262"/>
            <ac:spMk id="2" creationId="{8358A993-CC72-8A7B-25E6-18365D9473A2}"/>
          </ac:spMkLst>
        </pc:spChg>
      </pc:sldChg>
      <pc:sldChg chg="addSp modSp add mod">
        <pc:chgData name="01058868446a@gmail.com" userId="b28250bd2b7e88d3" providerId="LiveId" clId="{E3826418-E712-43D4-9CD5-F35E812D8224}" dt="2026-09-30T02:25:49.423" v="2486" actId="1076"/>
        <pc:sldMkLst>
          <pc:docMk/>
          <pc:sldMk cId="2620599184" sldId="263"/>
        </pc:sldMkLst>
        <pc:spChg chg="mod">
          <ac:chgData name="01058868446a@gmail.com" userId="b28250bd2b7e88d3" providerId="LiveId" clId="{E3826418-E712-43D4-9CD5-F35E812D8224}" dt="2026-09-28T08:18:39.131" v="1814" actId="20577"/>
          <ac:spMkLst>
            <pc:docMk/>
            <pc:sldMk cId="2620599184" sldId="263"/>
            <ac:spMk id="2" creationId="{412FE4D2-1BC8-EAA1-F026-6A369656FAB2}"/>
          </ac:spMkLst>
        </pc:spChg>
        <pc:spChg chg="mod">
          <ac:chgData name="01058868446a@gmail.com" userId="b28250bd2b7e88d3" providerId="LiveId" clId="{E3826418-E712-43D4-9CD5-F35E812D8224}" dt="2026-09-28T08:51:16.532" v="2109" actId="20577"/>
          <ac:spMkLst>
            <pc:docMk/>
            <pc:sldMk cId="2620599184" sldId="263"/>
            <ac:spMk id="4" creationId="{2ED2BEA3-809F-5EE4-4059-54F34C7DE6C1}"/>
          </ac:spMkLst>
        </pc:spChg>
        <pc:picChg chg="add mod">
          <ac:chgData name="01058868446a@gmail.com" userId="b28250bd2b7e88d3" providerId="LiveId" clId="{E3826418-E712-43D4-9CD5-F35E812D8224}" dt="2026-09-30T02:25:49.423" v="2486" actId="1076"/>
          <ac:picMkLst>
            <pc:docMk/>
            <pc:sldMk cId="2620599184" sldId="263"/>
            <ac:picMk id="3" creationId="{B1DA5A4E-92D4-E217-32B3-5CAE239D9640}"/>
          </ac:picMkLst>
        </pc:picChg>
      </pc:sldChg>
      <pc:sldChg chg="addSp modSp add mod">
        <pc:chgData name="01058868446a@gmail.com" userId="b28250bd2b7e88d3" providerId="LiveId" clId="{E3826418-E712-43D4-9CD5-F35E812D8224}" dt="2026-09-30T02:35:02.062" v="2971" actId="20577"/>
        <pc:sldMkLst>
          <pc:docMk/>
          <pc:sldMk cId="2837604510" sldId="264"/>
        </pc:sldMkLst>
        <pc:spChg chg="mod">
          <ac:chgData name="01058868446a@gmail.com" userId="b28250bd2b7e88d3" providerId="LiveId" clId="{E3826418-E712-43D4-9CD5-F35E812D8224}" dt="2026-09-30T02:29:15.306" v="2529" actId="20577"/>
          <ac:spMkLst>
            <pc:docMk/>
            <pc:sldMk cId="2837604510" sldId="264"/>
            <ac:spMk id="2" creationId="{240CE45D-7DF0-7412-8EF0-914D85394F2D}"/>
          </ac:spMkLst>
        </pc:spChg>
        <pc:spChg chg="mod">
          <ac:chgData name="01058868446a@gmail.com" userId="b28250bd2b7e88d3" providerId="LiveId" clId="{E3826418-E712-43D4-9CD5-F35E812D8224}" dt="2026-09-30T02:35:02.062" v="2971" actId="20577"/>
          <ac:spMkLst>
            <pc:docMk/>
            <pc:sldMk cId="2837604510" sldId="264"/>
            <ac:spMk id="4" creationId="{FB6DB0A0-68AF-C2D7-E568-9A754BE0D01F}"/>
          </ac:spMkLst>
        </pc:spChg>
        <pc:picChg chg="add mod">
          <ac:chgData name="01058868446a@gmail.com" userId="b28250bd2b7e88d3" providerId="LiveId" clId="{E3826418-E712-43D4-9CD5-F35E812D8224}" dt="2026-09-30T02:32:13.558" v="2663" actId="1076"/>
          <ac:picMkLst>
            <pc:docMk/>
            <pc:sldMk cId="2837604510" sldId="264"/>
            <ac:picMk id="5" creationId="{D46F1CB7-A6B4-1537-C5EE-C97F4276EC4E}"/>
          </ac:picMkLst>
        </pc:picChg>
      </pc:sldChg>
      <pc:sldChg chg="addSp modSp add mod modNotesTx">
        <pc:chgData name="01058868446a@gmail.com" userId="b28250bd2b7e88d3" providerId="LiveId" clId="{E3826418-E712-43D4-9CD5-F35E812D8224}" dt="2026-09-30T06:29:56.494" v="6816" actId="20577"/>
        <pc:sldMkLst>
          <pc:docMk/>
          <pc:sldMk cId="2832736171" sldId="265"/>
        </pc:sldMkLst>
        <pc:spChg chg="mod">
          <ac:chgData name="01058868446a@gmail.com" userId="b28250bd2b7e88d3" providerId="LiveId" clId="{E3826418-E712-43D4-9CD5-F35E812D8224}" dt="2026-09-30T02:35:18.056" v="2996" actId="20577"/>
          <ac:spMkLst>
            <pc:docMk/>
            <pc:sldMk cId="2832736171" sldId="265"/>
            <ac:spMk id="2" creationId="{0769D4F6-2D20-D236-E920-4E6C5C025972}"/>
          </ac:spMkLst>
        </pc:spChg>
        <pc:spChg chg="mod">
          <ac:chgData name="01058868446a@gmail.com" userId="b28250bd2b7e88d3" providerId="LiveId" clId="{E3826418-E712-43D4-9CD5-F35E812D8224}" dt="2026-09-30T06:29:20.981" v="6813" actId="1076"/>
          <ac:spMkLst>
            <pc:docMk/>
            <pc:sldMk cId="2832736171" sldId="265"/>
            <ac:spMk id="4" creationId="{B2619653-D5E8-905F-AC5F-411ACC0E685B}"/>
          </ac:spMkLst>
        </pc:spChg>
        <pc:spChg chg="add mod">
          <ac:chgData name="01058868446a@gmail.com" userId="b28250bd2b7e88d3" providerId="LiveId" clId="{E3826418-E712-43D4-9CD5-F35E812D8224}" dt="2026-09-30T02:37:57.854" v="3105" actId="20577"/>
          <ac:spMkLst>
            <pc:docMk/>
            <pc:sldMk cId="2832736171" sldId="265"/>
            <ac:spMk id="7" creationId="{8C4396DC-8856-AA07-EADA-128B2505DFAA}"/>
          </ac:spMkLst>
        </pc:spChg>
        <pc:graphicFrameChg chg="add modGraphic">
          <ac:chgData name="01058868446a@gmail.com" userId="b28250bd2b7e88d3" providerId="LiveId" clId="{E3826418-E712-43D4-9CD5-F35E812D8224}" dt="2026-09-30T03:40:10.041" v="6401" actId="207"/>
          <ac:graphicFrameMkLst>
            <pc:docMk/>
            <pc:sldMk cId="2832736171" sldId="265"/>
            <ac:graphicFrameMk id="5" creationId="{739FFBBD-0768-6DEB-03C6-63ECEF82BCCC}"/>
          </ac:graphicFrameMkLst>
        </pc:graphicFrameChg>
      </pc:sldChg>
      <pc:sldChg chg="modSp add del mod">
        <pc:chgData name="01058868446a@gmail.com" userId="b28250bd2b7e88d3" providerId="LiveId" clId="{E3826418-E712-43D4-9CD5-F35E812D8224}" dt="2026-09-30T02:38:11.173" v="3108" actId="47"/>
        <pc:sldMkLst>
          <pc:docMk/>
          <pc:sldMk cId="1389767376" sldId="266"/>
        </pc:sldMkLst>
      </pc:sldChg>
      <pc:sldChg chg="modSp add mod">
        <pc:chgData name="01058868446a@gmail.com" userId="b28250bd2b7e88d3" providerId="LiveId" clId="{E3826418-E712-43D4-9CD5-F35E812D8224}" dt="2026-09-28T08:50:30.643" v="2075" actId="20577"/>
        <pc:sldMkLst>
          <pc:docMk/>
          <pc:sldMk cId="3384968672" sldId="267"/>
        </pc:sldMkLst>
        <pc:spChg chg="mod">
          <ac:chgData name="01058868446a@gmail.com" userId="b28250bd2b7e88d3" providerId="LiveId" clId="{E3826418-E712-43D4-9CD5-F35E812D8224}" dt="2026-09-28T08:50:30.643" v="2075" actId="20577"/>
          <ac:spMkLst>
            <pc:docMk/>
            <pc:sldMk cId="3384968672" sldId="267"/>
            <ac:spMk id="2" creationId="{BAE3BEDD-1104-68D7-1A9D-FFF500803ADC}"/>
          </ac:spMkLst>
        </pc:spChg>
      </pc:sldChg>
      <pc:sldChg chg="addSp modSp add mod">
        <pc:chgData name="01058868446a@gmail.com" userId="b28250bd2b7e88d3" providerId="LiveId" clId="{E3826418-E712-43D4-9CD5-F35E812D8224}" dt="2026-09-30T03:44:16.025" v="6493" actId="207"/>
        <pc:sldMkLst>
          <pc:docMk/>
          <pc:sldMk cId="2970117328" sldId="268"/>
        </pc:sldMkLst>
        <pc:spChg chg="mod">
          <ac:chgData name="01058868446a@gmail.com" userId="b28250bd2b7e88d3" providerId="LiveId" clId="{E3826418-E712-43D4-9CD5-F35E812D8224}" dt="2026-09-28T08:50:44.473" v="2103" actId="20577"/>
          <ac:spMkLst>
            <pc:docMk/>
            <pc:sldMk cId="2970117328" sldId="268"/>
            <ac:spMk id="2" creationId="{6D67FD28-D05E-0BB6-F7B5-B5820558093F}"/>
          </ac:spMkLst>
        </pc:spChg>
        <pc:spChg chg="mod">
          <ac:chgData name="01058868446a@gmail.com" userId="b28250bd2b7e88d3" providerId="LiveId" clId="{E3826418-E712-43D4-9CD5-F35E812D8224}" dt="2026-09-28T08:51:02.012" v="2104" actId="20577"/>
          <ac:spMkLst>
            <pc:docMk/>
            <pc:sldMk cId="2970117328" sldId="268"/>
            <ac:spMk id="4" creationId="{384541D5-946C-AF90-6C40-BF00B102F9C1}"/>
          </ac:spMkLst>
        </pc:spChg>
        <pc:graphicFrameChg chg="add modGraphic">
          <ac:chgData name="01058868446a@gmail.com" userId="b28250bd2b7e88d3" providerId="LiveId" clId="{E3826418-E712-43D4-9CD5-F35E812D8224}" dt="2026-09-30T03:40:16.492" v="6402" actId="207"/>
          <ac:graphicFrameMkLst>
            <pc:docMk/>
            <pc:sldMk cId="2970117328" sldId="268"/>
            <ac:graphicFrameMk id="5" creationId="{E09E28B7-97FB-C412-D79A-C0C95D1BA456}"/>
          </ac:graphicFrameMkLst>
        </pc:graphicFrameChg>
        <pc:graphicFrameChg chg="add mod modGraphic">
          <ac:chgData name="01058868446a@gmail.com" userId="b28250bd2b7e88d3" providerId="LiveId" clId="{E3826418-E712-43D4-9CD5-F35E812D8224}" dt="2026-09-30T03:44:16.025" v="6493" actId="207"/>
          <ac:graphicFrameMkLst>
            <pc:docMk/>
            <pc:sldMk cId="2970117328" sldId="268"/>
            <ac:graphicFrameMk id="7" creationId="{907C7DE7-56A4-84F7-ED18-A5092891C435}"/>
          </ac:graphicFrameMkLst>
        </pc:graphicFrameChg>
      </pc:sldChg>
      <pc:sldChg chg="modSp add mod">
        <pc:chgData name="01058868446a@gmail.com" userId="b28250bd2b7e88d3" providerId="LiveId" clId="{E3826418-E712-43D4-9CD5-F35E812D8224}" dt="2026-09-30T03:02:03.993" v="4311" actId="20577"/>
        <pc:sldMkLst>
          <pc:docMk/>
          <pc:sldMk cId="389025364" sldId="269"/>
        </pc:sldMkLst>
        <pc:spChg chg="mod">
          <ac:chgData name="01058868446a@gmail.com" userId="b28250bd2b7e88d3" providerId="LiveId" clId="{E3826418-E712-43D4-9CD5-F35E812D8224}" dt="2026-09-28T08:51:36.577" v="2120" actId="20577"/>
          <ac:spMkLst>
            <pc:docMk/>
            <pc:sldMk cId="389025364" sldId="269"/>
            <ac:spMk id="2" creationId="{0BA9C73E-F9C7-E085-3411-063D7319081E}"/>
          </ac:spMkLst>
        </pc:spChg>
        <pc:spChg chg="mod">
          <ac:chgData name="01058868446a@gmail.com" userId="b28250bd2b7e88d3" providerId="LiveId" clId="{E3826418-E712-43D4-9CD5-F35E812D8224}" dt="2026-09-30T03:02:03.993" v="4311" actId="20577"/>
          <ac:spMkLst>
            <pc:docMk/>
            <pc:sldMk cId="389025364" sldId="269"/>
            <ac:spMk id="4" creationId="{2603F675-3B14-7539-0D45-97B9AC57DD24}"/>
          </ac:spMkLst>
        </pc:spChg>
      </pc:sldChg>
      <pc:sldChg chg="addSp delSp modSp add mod ord">
        <pc:chgData name="01058868446a@gmail.com" userId="b28250bd2b7e88d3" providerId="LiveId" clId="{E3826418-E712-43D4-9CD5-F35E812D8224}" dt="2026-09-30T03:38:07.532" v="6384" actId="20577"/>
        <pc:sldMkLst>
          <pc:docMk/>
          <pc:sldMk cId="2995791924" sldId="270"/>
        </pc:sldMkLst>
        <pc:spChg chg="mod">
          <ac:chgData name="01058868446a@gmail.com" userId="b28250bd2b7e88d3" providerId="LiveId" clId="{E3826418-E712-43D4-9CD5-F35E812D8224}" dt="2026-09-30T03:38:07.532" v="6384" actId="20577"/>
          <ac:spMkLst>
            <pc:docMk/>
            <pc:sldMk cId="2995791924" sldId="270"/>
            <ac:spMk id="2" creationId="{FFAC935F-B6E5-1068-839D-61C05836518A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3" creationId="{D2E13D4E-49BF-EFD9-F1FC-138FD69EEB38}"/>
          </ac:spMkLst>
        </pc:spChg>
        <pc:spChg chg="mod">
          <ac:chgData name="01058868446a@gmail.com" userId="b28250bd2b7e88d3" providerId="LiveId" clId="{E3826418-E712-43D4-9CD5-F35E812D8224}" dt="2026-09-30T03:37:36.152" v="6363" actId="20577"/>
          <ac:spMkLst>
            <pc:docMk/>
            <pc:sldMk cId="2995791924" sldId="270"/>
            <ac:spMk id="4" creationId="{3984D9EF-F1CC-B07E-445B-B8EDE3BB9EA3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5" creationId="{20DBE718-4CBF-C427-9128-44F260290045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6" creationId="{E992D07D-0B65-DA05-018D-106AC5955F63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7" creationId="{87997283-7AC8-3432-E501-8820E142D4D6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8" creationId="{DBA04EAD-3EF0-D441-16C7-55B6FA37A4C0}"/>
          </ac:spMkLst>
        </pc:spChg>
        <pc:spChg chg="add">
          <ac:chgData name="01058868446a@gmail.com" userId="b28250bd2b7e88d3" providerId="LiveId" clId="{E3826418-E712-43D4-9CD5-F35E812D8224}" dt="2026-09-30T03:03:33.592" v="4337"/>
          <ac:spMkLst>
            <pc:docMk/>
            <pc:sldMk cId="2995791924" sldId="270"/>
            <ac:spMk id="9" creationId="{CB8FB232-3571-4496-45AA-F558439816FF}"/>
          </ac:spMkLst>
        </pc:spChg>
        <pc:spChg chg="add mod">
          <ac:chgData name="01058868446a@gmail.com" userId="b28250bd2b7e88d3" providerId="LiveId" clId="{E3826418-E712-43D4-9CD5-F35E812D8224}" dt="2026-09-30T03:05:37.248" v="4639" actId="14100"/>
          <ac:spMkLst>
            <pc:docMk/>
            <pc:sldMk cId="2995791924" sldId="270"/>
            <ac:spMk id="10" creationId="{A3F534B6-267F-0814-4452-DBA7E0AAA588}"/>
          </ac:spMkLst>
        </pc:spChg>
        <pc:picChg chg="add del mod">
          <ac:chgData name="01058868446a@gmail.com" userId="b28250bd2b7e88d3" providerId="LiveId" clId="{E3826418-E712-43D4-9CD5-F35E812D8224}" dt="2026-09-30T03:06:24.207" v="4646" actId="478"/>
          <ac:picMkLst>
            <pc:docMk/>
            <pc:sldMk cId="2995791924" sldId="270"/>
            <ac:picMk id="12" creationId="{9C369327-934F-457B-1AF1-035B4EE677FB}"/>
          </ac:picMkLst>
        </pc:picChg>
        <pc:picChg chg="add del mod">
          <ac:chgData name="01058868446a@gmail.com" userId="b28250bd2b7e88d3" providerId="LiveId" clId="{E3826418-E712-43D4-9CD5-F35E812D8224}" dt="2026-09-30T03:37:51.650" v="6367" actId="478"/>
          <ac:picMkLst>
            <pc:docMk/>
            <pc:sldMk cId="2995791924" sldId="270"/>
            <ac:picMk id="14" creationId="{6B792D5D-AE42-BBFA-91EC-833513A3CA2D}"/>
          </ac:picMkLst>
        </pc:picChg>
        <pc:picChg chg="add del">
          <ac:chgData name="01058868446a@gmail.com" userId="b28250bd2b7e88d3" providerId="LiveId" clId="{E3826418-E712-43D4-9CD5-F35E812D8224}" dt="2026-09-30T03:37:58.056" v="6369" actId="478"/>
          <ac:picMkLst>
            <pc:docMk/>
            <pc:sldMk cId="2995791924" sldId="270"/>
            <ac:picMk id="16" creationId="{F61967FE-58F6-04B9-C86E-C1FABDFC9E00}"/>
          </ac:picMkLst>
        </pc:picChg>
        <pc:picChg chg="add">
          <ac:chgData name="01058868446a@gmail.com" userId="b28250bd2b7e88d3" providerId="LiveId" clId="{E3826418-E712-43D4-9CD5-F35E812D8224}" dt="2026-09-30T03:03:33.592" v="4337"/>
          <ac:picMkLst>
            <pc:docMk/>
            <pc:sldMk cId="2995791924" sldId="270"/>
            <ac:picMk id="1026" creationId="{86A30BBF-8BD6-3C00-8636-A505D9060A79}"/>
          </ac:picMkLst>
        </pc:picChg>
        <pc:picChg chg="add">
          <ac:chgData name="01058868446a@gmail.com" userId="b28250bd2b7e88d3" providerId="LiveId" clId="{E3826418-E712-43D4-9CD5-F35E812D8224}" dt="2026-09-30T03:03:33.592" v="4337"/>
          <ac:picMkLst>
            <pc:docMk/>
            <pc:sldMk cId="2995791924" sldId="270"/>
            <ac:picMk id="1027" creationId="{0A34E10F-1431-7E6E-0A4F-503495E38BA9}"/>
          </ac:picMkLst>
        </pc:picChg>
        <pc:picChg chg="add">
          <ac:chgData name="01058868446a@gmail.com" userId="b28250bd2b7e88d3" providerId="LiveId" clId="{E3826418-E712-43D4-9CD5-F35E812D8224}" dt="2026-09-30T03:03:33.592" v="4337"/>
          <ac:picMkLst>
            <pc:docMk/>
            <pc:sldMk cId="2995791924" sldId="270"/>
            <ac:picMk id="1028" creationId="{C38381D6-A8F2-FBC2-4E91-4DC9C1A87536}"/>
          </ac:picMkLst>
        </pc:picChg>
        <pc:picChg chg="add">
          <ac:chgData name="01058868446a@gmail.com" userId="b28250bd2b7e88d3" providerId="LiveId" clId="{E3826418-E712-43D4-9CD5-F35E812D8224}" dt="2026-09-30T03:03:33.592" v="4337"/>
          <ac:picMkLst>
            <pc:docMk/>
            <pc:sldMk cId="2995791924" sldId="270"/>
            <ac:picMk id="1029" creationId="{55D322AA-925A-CB0A-6388-0148AC00C520}"/>
          </ac:picMkLst>
        </pc:picChg>
        <pc:picChg chg="add del mod">
          <ac:chgData name="01058868446a@gmail.com" userId="b28250bd2b7e88d3" providerId="LiveId" clId="{E3826418-E712-43D4-9CD5-F35E812D8224}" dt="2026-09-30T03:06:01.381" v="4641" actId="478"/>
          <ac:picMkLst>
            <pc:docMk/>
            <pc:sldMk cId="2995791924" sldId="270"/>
            <ac:picMk id="1036" creationId="{615D7630-D8A1-D42B-A32A-C9E244DB897F}"/>
          </ac:picMkLst>
        </pc:picChg>
      </pc:sldChg>
      <pc:sldChg chg="modSp add mod">
        <pc:chgData name="01058868446a@gmail.com" userId="b28250bd2b7e88d3" providerId="LiveId" clId="{E3826418-E712-43D4-9CD5-F35E812D8224}" dt="2026-09-28T09:04:41.722" v="2178" actId="20577"/>
        <pc:sldMkLst>
          <pc:docMk/>
          <pc:sldMk cId="296510262" sldId="271"/>
        </pc:sldMkLst>
        <pc:spChg chg="mod">
          <ac:chgData name="01058868446a@gmail.com" userId="b28250bd2b7e88d3" providerId="LiveId" clId="{E3826418-E712-43D4-9CD5-F35E812D8224}" dt="2026-09-28T09:04:41.722" v="2178" actId="20577"/>
          <ac:spMkLst>
            <pc:docMk/>
            <pc:sldMk cId="296510262" sldId="271"/>
            <ac:spMk id="2" creationId="{17388D3C-EA05-AF54-2446-6355A71E19CF}"/>
          </ac:spMkLst>
        </pc:spChg>
      </pc:sldChg>
      <pc:sldChg chg="addSp modSp add mod">
        <pc:chgData name="01058868446a@gmail.com" userId="b28250bd2b7e88d3" providerId="LiveId" clId="{E3826418-E712-43D4-9CD5-F35E812D8224}" dt="2026-09-30T06:31:00.205" v="6852" actId="20577"/>
        <pc:sldMkLst>
          <pc:docMk/>
          <pc:sldMk cId="2156180285" sldId="272"/>
        </pc:sldMkLst>
        <pc:spChg chg="mod">
          <ac:chgData name="01058868446a@gmail.com" userId="b28250bd2b7e88d3" providerId="LiveId" clId="{E3826418-E712-43D4-9CD5-F35E812D8224}" dt="2026-09-28T09:06:04.476" v="2192" actId="20577"/>
          <ac:spMkLst>
            <pc:docMk/>
            <pc:sldMk cId="2156180285" sldId="272"/>
            <ac:spMk id="2" creationId="{5C4D919F-84ED-8277-0FEF-CB53502B90A2}"/>
          </ac:spMkLst>
        </pc:spChg>
        <pc:spChg chg="add mod">
          <ac:chgData name="01058868446a@gmail.com" userId="b28250bd2b7e88d3" providerId="LiveId" clId="{E3826418-E712-43D4-9CD5-F35E812D8224}" dt="2026-09-30T02:28:04.952" v="2492"/>
          <ac:spMkLst>
            <pc:docMk/>
            <pc:sldMk cId="2156180285" sldId="272"/>
            <ac:spMk id="3" creationId="{08FAAFFA-2EBC-5733-CF47-9BBFF053DFA3}"/>
          </ac:spMkLst>
        </pc:spChg>
        <pc:spChg chg="mod">
          <ac:chgData name="01058868446a@gmail.com" userId="b28250bd2b7e88d3" providerId="LiveId" clId="{E3826418-E712-43D4-9CD5-F35E812D8224}" dt="2026-09-30T06:31:00.205" v="6852" actId="20577"/>
          <ac:spMkLst>
            <pc:docMk/>
            <pc:sldMk cId="2156180285" sldId="272"/>
            <ac:spMk id="4" creationId="{1A0CC2D6-BAE2-71CA-B777-D368D6D1F2D0}"/>
          </ac:spMkLst>
        </pc:spChg>
      </pc:sldChg>
      <pc:sldChg chg="modSp add mod">
        <pc:chgData name="01058868446a@gmail.com" userId="b28250bd2b7e88d3" providerId="LiveId" clId="{E3826418-E712-43D4-9CD5-F35E812D8224}" dt="2026-09-30T06:05:36.181" v="6799"/>
        <pc:sldMkLst>
          <pc:docMk/>
          <pc:sldMk cId="3550738615" sldId="273"/>
        </pc:sldMkLst>
        <pc:spChg chg="mod">
          <ac:chgData name="01058868446a@gmail.com" userId="b28250bd2b7e88d3" providerId="LiveId" clId="{E3826418-E712-43D4-9CD5-F35E812D8224}" dt="2026-09-30T06:05:36.181" v="6799"/>
          <ac:spMkLst>
            <pc:docMk/>
            <pc:sldMk cId="3550738615" sldId="273"/>
            <ac:spMk id="4" creationId="{41E554A2-5754-40CC-9335-1618CF5B1E39}"/>
          </ac:spMkLst>
        </pc:spChg>
      </pc:sldChg>
      <pc:sldChg chg="modSp add mod">
        <pc:chgData name="01058868446a@gmail.com" userId="b28250bd2b7e88d3" providerId="LiveId" clId="{E3826418-E712-43D4-9CD5-F35E812D8224}" dt="2026-09-30T06:04:05.462" v="6786" actId="20577"/>
        <pc:sldMkLst>
          <pc:docMk/>
          <pc:sldMk cId="3282069283" sldId="274"/>
        </pc:sldMkLst>
        <pc:spChg chg="mod">
          <ac:chgData name="01058868446a@gmail.com" userId="b28250bd2b7e88d3" providerId="LiveId" clId="{E3826418-E712-43D4-9CD5-F35E812D8224}" dt="2026-09-30T06:04:05.462" v="6786" actId="20577"/>
          <ac:spMkLst>
            <pc:docMk/>
            <pc:sldMk cId="3282069283" sldId="274"/>
            <ac:spMk id="4" creationId="{A0418F67-E777-02AA-8B5B-F629B28B71CE}"/>
          </ac:spMkLst>
        </pc:spChg>
      </pc:sldChg>
      <pc:sldChg chg="addSp delSp modSp add mod">
        <pc:chgData name="01058868446a@gmail.com" userId="b28250bd2b7e88d3" providerId="LiveId" clId="{E3826418-E712-43D4-9CD5-F35E812D8224}" dt="2026-09-30T03:38:21.209" v="6391" actId="478"/>
        <pc:sldMkLst>
          <pc:docMk/>
          <pc:sldMk cId="1168799325" sldId="275"/>
        </pc:sldMkLst>
        <pc:spChg chg="mod">
          <ac:chgData name="01058868446a@gmail.com" userId="b28250bd2b7e88d3" providerId="LiveId" clId="{E3826418-E712-43D4-9CD5-F35E812D8224}" dt="2026-09-30T03:38:11.958" v="6385" actId="20577"/>
          <ac:spMkLst>
            <pc:docMk/>
            <pc:sldMk cId="1168799325" sldId="275"/>
            <ac:spMk id="4" creationId="{0F711C1C-161E-03ED-9A72-CB87B29706F2}"/>
          </ac:spMkLst>
        </pc:spChg>
        <pc:spChg chg="mod">
          <ac:chgData name="01058868446a@gmail.com" userId="b28250bd2b7e88d3" providerId="LiveId" clId="{E3826418-E712-43D4-9CD5-F35E812D8224}" dt="2026-09-30T03:38:18.666" v="6388" actId="1076"/>
          <ac:spMkLst>
            <pc:docMk/>
            <pc:sldMk cId="1168799325" sldId="275"/>
            <ac:spMk id="10" creationId="{9D71313E-AE7F-CD01-C2CF-5DD7EF20BECC}"/>
          </ac:spMkLst>
        </pc:spChg>
        <pc:picChg chg="add del mod">
          <ac:chgData name="01058868446a@gmail.com" userId="b28250bd2b7e88d3" providerId="LiveId" clId="{E3826418-E712-43D4-9CD5-F35E812D8224}" dt="2026-09-30T03:38:21.209" v="6391" actId="478"/>
          <ac:picMkLst>
            <pc:docMk/>
            <pc:sldMk cId="1168799325" sldId="275"/>
            <ac:picMk id="14" creationId="{6878788C-B489-F268-778E-61ABC1B77EAE}"/>
          </ac:picMkLst>
        </pc:picChg>
      </pc:sldChg>
      <pc:sldChg chg="addSp delSp modSp add del mod">
        <pc:chgData name="01058868446a@gmail.com" userId="b28250bd2b7e88d3" providerId="LiveId" clId="{E3826418-E712-43D4-9CD5-F35E812D8224}" dt="2026-09-30T05:12:08.240" v="6771" actId="20577"/>
        <pc:sldMkLst>
          <pc:docMk/>
          <pc:sldMk cId="2528651128" sldId="276"/>
        </pc:sldMkLst>
        <pc:spChg chg="mod">
          <ac:chgData name="01058868446a@gmail.com" userId="b28250bd2b7e88d3" providerId="LiveId" clId="{E3826418-E712-43D4-9CD5-F35E812D8224}" dt="2026-09-30T04:35:12.012" v="6728" actId="20577"/>
          <ac:spMkLst>
            <pc:docMk/>
            <pc:sldMk cId="2528651128" sldId="276"/>
            <ac:spMk id="4" creationId="{4FE9E207-87EF-836A-EC4B-5962461004C4}"/>
          </ac:spMkLst>
        </pc:spChg>
        <pc:spChg chg="add del mod">
          <ac:chgData name="01058868446a@gmail.com" userId="b28250bd2b7e88d3" providerId="LiveId" clId="{E3826418-E712-43D4-9CD5-F35E812D8224}" dt="2026-09-30T03:51:04.334" v="6621" actId="478"/>
          <ac:spMkLst>
            <pc:docMk/>
            <pc:sldMk cId="2528651128" sldId="276"/>
            <ac:spMk id="7" creationId="{C9AD5278-3C99-EB76-E832-A9B6834A09D0}"/>
          </ac:spMkLst>
        </pc:spChg>
        <pc:graphicFrameChg chg="add mod">
          <ac:chgData name="01058868446a@gmail.com" userId="b28250bd2b7e88d3" providerId="LiveId" clId="{E3826418-E712-43D4-9CD5-F35E812D8224}" dt="2026-09-30T03:38:33.290" v="6395"/>
          <ac:graphicFrameMkLst>
            <pc:docMk/>
            <pc:sldMk cId="2528651128" sldId="276"/>
            <ac:graphicFrameMk id="3" creationId="{F3844DA3-1D61-1201-34D1-1EE81C0127D3}"/>
          </ac:graphicFrameMkLst>
        </pc:graphicFrameChg>
        <pc:graphicFrameChg chg="add mod modGraphic">
          <ac:chgData name="01058868446a@gmail.com" userId="b28250bd2b7e88d3" providerId="LiveId" clId="{E3826418-E712-43D4-9CD5-F35E812D8224}" dt="2026-09-30T05:07:54.488" v="6767" actId="14734"/>
          <ac:graphicFrameMkLst>
            <pc:docMk/>
            <pc:sldMk cId="2528651128" sldId="276"/>
            <ac:graphicFrameMk id="5" creationId="{B1ACC075-DB5C-0471-E136-2A894CC4DA91}"/>
          </ac:graphicFrameMkLst>
        </pc:graphicFrameChg>
        <pc:graphicFrameChg chg="add mod modGraphic">
          <ac:chgData name="01058868446a@gmail.com" userId="b28250bd2b7e88d3" providerId="LiveId" clId="{E3826418-E712-43D4-9CD5-F35E812D8224}" dt="2026-09-30T05:12:08.240" v="6771" actId="20577"/>
          <ac:graphicFrameMkLst>
            <pc:docMk/>
            <pc:sldMk cId="2528651128" sldId="276"/>
            <ac:graphicFrameMk id="6" creationId="{856E503A-B563-DF15-D265-7261DB651C78}"/>
          </ac:graphicFrameMkLst>
        </pc:graphicFrameChg>
        <pc:picChg chg="del">
          <ac:chgData name="01058868446a@gmail.com" userId="b28250bd2b7e88d3" providerId="LiveId" clId="{E3826418-E712-43D4-9CD5-F35E812D8224}" dt="2026-09-30T03:38:41.648" v="6396" actId="478"/>
          <ac:picMkLst>
            <pc:docMk/>
            <pc:sldMk cId="2528651128" sldId="276"/>
            <ac:picMk id="14" creationId="{C8063AAE-D423-52B8-047E-A8917DDE1111}"/>
          </ac:picMkLst>
        </pc:picChg>
      </pc:sldChg>
      <pc:sldChg chg="delSp modSp add mod">
        <pc:chgData name="01058868446a@gmail.com" userId="b28250bd2b7e88d3" providerId="LiveId" clId="{E3826418-E712-43D4-9CD5-F35E812D8224}" dt="2026-09-30T04:37:11.529" v="6765" actId="14734"/>
        <pc:sldMkLst>
          <pc:docMk/>
          <pc:sldMk cId="1081116697" sldId="277"/>
        </pc:sldMkLst>
        <pc:spChg chg="mod">
          <ac:chgData name="01058868446a@gmail.com" userId="b28250bd2b7e88d3" providerId="LiveId" clId="{E3826418-E712-43D4-9CD5-F35E812D8224}" dt="2026-09-30T04:36:36.849" v="6751" actId="255"/>
          <ac:spMkLst>
            <pc:docMk/>
            <pc:sldMk cId="1081116697" sldId="277"/>
            <ac:spMk id="2" creationId="{56490608-A20B-030D-08BB-3D2A4FB9F798}"/>
          </ac:spMkLst>
        </pc:spChg>
        <pc:spChg chg="mod">
          <ac:chgData name="01058868446a@gmail.com" userId="b28250bd2b7e88d3" providerId="LiveId" clId="{E3826418-E712-43D4-9CD5-F35E812D8224}" dt="2026-09-30T04:36:36.849" v="6751" actId="255"/>
          <ac:spMkLst>
            <pc:docMk/>
            <pc:sldMk cId="1081116697" sldId="277"/>
            <ac:spMk id="4" creationId="{68E5B126-4054-18D4-8C4C-FB81FC796EAE}"/>
          </ac:spMkLst>
        </pc:spChg>
        <pc:spChg chg="mod">
          <ac:chgData name="01058868446a@gmail.com" userId="b28250bd2b7e88d3" providerId="LiveId" clId="{E3826418-E712-43D4-9CD5-F35E812D8224}" dt="2026-09-30T04:36:37.969" v="6752" actId="255"/>
          <ac:spMkLst>
            <pc:docMk/>
            <pc:sldMk cId="1081116697" sldId="277"/>
            <ac:spMk id="10" creationId="{5DA6C7F2-5963-4581-EDAE-257B92501C40}"/>
          </ac:spMkLst>
        </pc:spChg>
        <pc:graphicFrameChg chg="mod modGraphic">
          <ac:chgData name="01058868446a@gmail.com" userId="b28250bd2b7e88d3" providerId="LiveId" clId="{E3826418-E712-43D4-9CD5-F35E812D8224}" dt="2026-09-30T04:37:11.529" v="6765" actId="14734"/>
          <ac:graphicFrameMkLst>
            <pc:docMk/>
            <pc:sldMk cId="1081116697" sldId="277"/>
            <ac:graphicFrameMk id="5" creationId="{1DB2F5F1-E71A-ABE0-5D07-A3E96A293A4C}"/>
          </ac:graphicFrameMkLst>
        </pc:graphicFrameChg>
        <pc:graphicFrameChg chg="del">
          <ac:chgData name="01058868446a@gmail.com" userId="b28250bd2b7e88d3" providerId="LiveId" clId="{E3826418-E712-43D4-9CD5-F35E812D8224}" dt="2026-09-30T04:35:34.809" v="6743" actId="478"/>
          <ac:graphicFrameMkLst>
            <pc:docMk/>
            <pc:sldMk cId="1081116697" sldId="277"/>
            <ac:graphicFrameMk id="6" creationId="{C23BFD94-5416-0843-41EB-83F35CDECFF9}"/>
          </ac:graphicFrameMkLst>
        </pc:graphicFrameChg>
      </pc:sldChg>
      <pc:sldChg chg="delSp modSp add del mod">
        <pc:chgData name="01058868446a@gmail.com" userId="b28250bd2b7e88d3" providerId="LiveId" clId="{E3826418-E712-43D4-9CD5-F35E812D8224}" dt="2026-09-30T05:59:06.916" v="6784" actId="47"/>
        <pc:sldMkLst>
          <pc:docMk/>
          <pc:sldMk cId="634094152" sldId="278"/>
        </pc:sldMkLst>
        <pc:graphicFrameChg chg="del mod modGraphic">
          <ac:chgData name="01058868446a@gmail.com" userId="b28250bd2b7e88d3" providerId="LiveId" clId="{E3826418-E712-43D4-9CD5-F35E812D8224}" dt="2026-09-30T05:59:03.550" v="6782" actId="478"/>
          <ac:graphicFrameMkLst>
            <pc:docMk/>
            <pc:sldMk cId="634094152" sldId="278"/>
            <ac:graphicFrameMk id="5" creationId="{69E0E1B4-DA7F-735F-3DEA-82AA12A9CF63}"/>
          </ac:graphicFrameMkLst>
        </pc:graphicFrameChg>
        <pc:graphicFrameChg chg="del mod">
          <ac:chgData name="01058868446a@gmail.com" userId="b28250bd2b7e88d3" providerId="LiveId" clId="{E3826418-E712-43D4-9CD5-F35E812D8224}" dt="2026-09-30T05:59:05.653" v="6783" actId="478"/>
          <ac:graphicFrameMkLst>
            <pc:docMk/>
            <pc:sldMk cId="634094152" sldId="278"/>
            <ac:graphicFrameMk id="6" creationId="{F85F2AA2-FB69-FC00-6656-52A6130A425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7C3E755F-71C8-4B25-BAE8-15D69950B472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603EBE0F-152B-4AA6-BEA6-EC76E0A98D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862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[약 0:15 · 누적 0:15]</a:t>
            </a:r>
          </a:p>
          <a:p>
            <a:r>
              <a:t>안녕하십니까. 소프트웨어학부 유권환입니다.</a:t>
            </a:r>
          </a:p>
          <a:p>
            <a:r>
              <a:t>지금부터 「계층형 표 문서의 셀 문장 검색 단위 기반 RAG」라는 제목으로 석사학위 논문 발표를 시작하겠습니다.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956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0:25 · 누적 0:35]</a:t>
            </a:r>
          </a:p>
          <a:p>
            <a:r>
              <a:t>발표 순서입니다.</a:t>
            </a:r>
          </a:p>
          <a:p>
            <a:r>
              <a:t>먼저 서론에서 연구 배경과 연구 목표를 말씀드리겠습니다.</a:t>
            </a:r>
          </a:p>
          <a:p>
            <a:r>
              <a:t>이어서 제안하는 시스템의 구조를 보여 드리고, 핵심 단계인 머리글 경로 구성, 셀 문장 생성, 유사도 계산을 차례로 설명드리겠습니다.</a:t>
            </a:r>
          </a:p>
          <a:p>
            <a:r>
              <a:t>그다음 실험 환경과 방법, 평가 지표, 실험 결과를 말씀드리고 결론으로 마치겠습니다.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0:05 · 누적 0:40]</a:t>
            </a:r>
          </a:p>
          <a:p>
            <a:r>
              <a:t>먼저 서론입니다.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[약 2:20 · </a:t>
            </a:r>
            <a:r>
              <a:rPr dirty="0" err="1"/>
              <a:t>누적</a:t>
            </a:r>
            <a:r>
              <a:rPr dirty="0"/>
              <a:t> 3:00]</a:t>
            </a:r>
          </a:p>
          <a:p>
            <a:r>
              <a:rPr dirty="0" err="1"/>
              <a:t>기업이나</a:t>
            </a:r>
            <a:r>
              <a:rPr dirty="0"/>
              <a:t> </a:t>
            </a:r>
            <a:r>
              <a:rPr dirty="0" err="1"/>
              <a:t>기관에서는</a:t>
            </a:r>
            <a:r>
              <a:rPr dirty="0"/>
              <a:t>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문서에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질문에</a:t>
            </a:r>
            <a:r>
              <a:rPr dirty="0"/>
              <a:t> </a:t>
            </a:r>
            <a:r>
              <a:rPr dirty="0" err="1"/>
              <a:t>답하는</a:t>
            </a:r>
            <a:r>
              <a:rPr dirty="0"/>
              <a:t> 데 </a:t>
            </a:r>
            <a:r>
              <a:rPr dirty="0" err="1"/>
              <a:t>대규모</a:t>
            </a:r>
            <a:r>
              <a:rPr dirty="0"/>
              <a:t> </a:t>
            </a:r>
            <a:r>
              <a:rPr dirty="0" err="1"/>
              <a:t>언어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, 즉 </a:t>
            </a:r>
            <a:r>
              <a:rPr dirty="0" err="1"/>
              <a:t>LLM을</a:t>
            </a:r>
            <a:r>
              <a:rPr dirty="0"/>
              <a:t> </a:t>
            </a:r>
            <a:r>
              <a:rPr dirty="0" err="1"/>
              <a:t>많이</a:t>
            </a:r>
            <a:r>
              <a:rPr dirty="0"/>
              <a:t> </a:t>
            </a:r>
            <a:r>
              <a:rPr dirty="0" err="1"/>
              <a:t>씁니다</a:t>
            </a:r>
            <a:r>
              <a:rPr dirty="0"/>
              <a:t>.</a:t>
            </a:r>
          </a:p>
          <a:p>
            <a:r>
              <a:rPr dirty="0" err="1"/>
              <a:t>그런데</a:t>
            </a:r>
            <a:r>
              <a:rPr dirty="0"/>
              <a:t> </a:t>
            </a:r>
            <a:r>
              <a:rPr dirty="0" err="1"/>
              <a:t>LLM은</a:t>
            </a:r>
            <a:r>
              <a:rPr dirty="0"/>
              <a:t> </a:t>
            </a:r>
            <a:r>
              <a:rPr dirty="0" err="1"/>
              <a:t>학습</a:t>
            </a:r>
            <a:r>
              <a:rPr dirty="0"/>
              <a:t> 때 </a:t>
            </a:r>
            <a:r>
              <a:rPr dirty="0" err="1"/>
              <a:t>보지</a:t>
            </a:r>
            <a:r>
              <a:rPr dirty="0"/>
              <a:t> </a:t>
            </a:r>
            <a:r>
              <a:rPr dirty="0" err="1"/>
              <a:t>못한</a:t>
            </a:r>
            <a:r>
              <a:rPr dirty="0"/>
              <a:t>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문서의</a:t>
            </a:r>
            <a:r>
              <a:rPr dirty="0"/>
              <a:t> </a:t>
            </a:r>
            <a:r>
              <a:rPr dirty="0" err="1"/>
              <a:t>내용은</a:t>
            </a:r>
            <a:r>
              <a:rPr dirty="0"/>
              <a:t> </a:t>
            </a:r>
            <a:r>
              <a:rPr dirty="0" err="1"/>
              <a:t>모릅니다</a:t>
            </a:r>
            <a:r>
              <a:rPr dirty="0"/>
              <a:t>.</a:t>
            </a:r>
          </a:p>
          <a:p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질문이</a:t>
            </a:r>
            <a:r>
              <a:rPr dirty="0"/>
              <a:t> </a:t>
            </a:r>
            <a:r>
              <a:rPr dirty="0" err="1"/>
              <a:t>들어오면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문서에서</a:t>
            </a:r>
            <a:r>
              <a:rPr dirty="0"/>
              <a:t> </a:t>
            </a:r>
            <a:r>
              <a:rPr dirty="0" err="1"/>
              <a:t>관련된</a:t>
            </a:r>
            <a:r>
              <a:rPr dirty="0"/>
              <a:t> </a:t>
            </a:r>
            <a:r>
              <a:rPr dirty="0" err="1"/>
              <a:t>부분을</a:t>
            </a:r>
            <a:r>
              <a:rPr dirty="0"/>
              <a:t> </a:t>
            </a:r>
            <a:r>
              <a:rPr dirty="0" err="1"/>
              <a:t>검색하고</a:t>
            </a:r>
            <a:r>
              <a:rPr dirty="0"/>
              <a:t>, 그 </a:t>
            </a:r>
            <a:r>
              <a:rPr dirty="0" err="1"/>
              <a:t>부분을</a:t>
            </a:r>
            <a:r>
              <a:rPr dirty="0"/>
              <a:t> </a:t>
            </a:r>
            <a:r>
              <a:rPr dirty="0" err="1"/>
              <a:t>질문과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LLM에</a:t>
            </a:r>
            <a:r>
              <a:rPr dirty="0"/>
              <a:t> </a:t>
            </a:r>
            <a:r>
              <a:rPr dirty="0" err="1"/>
              <a:t>넣어</a:t>
            </a:r>
            <a:r>
              <a:rPr dirty="0"/>
              <a:t> </a:t>
            </a:r>
            <a:r>
              <a:rPr dirty="0" err="1"/>
              <a:t>답하게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이 </a:t>
            </a:r>
            <a:r>
              <a:rPr dirty="0" err="1"/>
              <a:t>방식을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증강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, </a:t>
            </a:r>
            <a:r>
              <a:rPr dirty="0" err="1"/>
              <a:t>RAG라고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</a:t>
            </a:r>
          </a:p>
          <a:p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널리</a:t>
            </a:r>
            <a:r>
              <a:rPr dirty="0"/>
              <a:t> </a:t>
            </a:r>
            <a:r>
              <a:rPr dirty="0" err="1"/>
              <a:t>쓰이는</a:t>
            </a:r>
            <a:r>
              <a:rPr dirty="0"/>
              <a:t> </a:t>
            </a:r>
            <a:r>
              <a:rPr dirty="0" err="1"/>
              <a:t>RAG는</a:t>
            </a:r>
            <a:r>
              <a:rPr dirty="0"/>
              <a:t> </a:t>
            </a:r>
            <a:r>
              <a:rPr dirty="0" err="1"/>
              <a:t>문서를</a:t>
            </a:r>
            <a:r>
              <a:rPr dirty="0"/>
              <a:t> 1,000자 </a:t>
            </a:r>
            <a:r>
              <a:rPr dirty="0" err="1"/>
              <a:t>정도씩</a:t>
            </a:r>
            <a:r>
              <a:rPr dirty="0"/>
              <a:t> </a:t>
            </a:r>
            <a:r>
              <a:rPr dirty="0" err="1"/>
              <a:t>잘라</a:t>
            </a:r>
            <a:r>
              <a:rPr dirty="0"/>
              <a:t> </a:t>
            </a:r>
            <a:r>
              <a:rPr dirty="0" err="1"/>
              <a:t>두고</a:t>
            </a:r>
            <a:r>
              <a:rPr dirty="0"/>
              <a:t>, </a:t>
            </a:r>
            <a:r>
              <a:rPr dirty="0" err="1"/>
              <a:t>질문과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비슷한</a:t>
            </a:r>
            <a:r>
              <a:rPr dirty="0"/>
              <a:t> </a:t>
            </a:r>
            <a:r>
              <a:rPr dirty="0" err="1"/>
              <a:t>조각</a:t>
            </a:r>
            <a:r>
              <a:rPr dirty="0"/>
              <a:t> 몇 </a:t>
            </a:r>
            <a:r>
              <a:rPr dirty="0" err="1"/>
              <a:t>개를</a:t>
            </a:r>
            <a:r>
              <a:rPr dirty="0"/>
              <a:t> </a:t>
            </a:r>
            <a:r>
              <a:rPr dirty="0" err="1"/>
              <a:t>골라</a:t>
            </a:r>
            <a:r>
              <a:rPr dirty="0"/>
              <a:t> </a:t>
            </a:r>
            <a:r>
              <a:rPr dirty="0" err="1"/>
              <a:t>LLM에</a:t>
            </a:r>
            <a:r>
              <a:rPr dirty="0"/>
              <a:t> </a:t>
            </a:r>
            <a:r>
              <a:rPr dirty="0" err="1"/>
              <a:t>전달합니다</a:t>
            </a:r>
            <a:r>
              <a:rPr dirty="0"/>
              <a:t>. 이 </a:t>
            </a:r>
            <a:r>
              <a:rPr dirty="0" err="1"/>
              <a:t>조각을</a:t>
            </a:r>
            <a:r>
              <a:rPr dirty="0"/>
              <a:t> </a:t>
            </a:r>
            <a:r>
              <a:rPr dirty="0" err="1"/>
              <a:t>청크라고</a:t>
            </a:r>
            <a:r>
              <a:rPr dirty="0"/>
              <a:t> </a:t>
            </a:r>
            <a:r>
              <a:rPr dirty="0" err="1"/>
              <a:t>부릅니다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오른쪽</a:t>
            </a:r>
            <a:r>
              <a:rPr dirty="0"/>
              <a:t> </a:t>
            </a:r>
            <a:r>
              <a:rPr dirty="0" err="1"/>
              <a:t>그림을</a:t>
            </a:r>
            <a:r>
              <a:rPr dirty="0"/>
              <a:t> </a:t>
            </a:r>
            <a:r>
              <a:rPr dirty="0" err="1"/>
              <a:t>가리키며</a:t>
            </a:r>
            <a:r>
              <a:rPr dirty="0"/>
              <a:t>] </a:t>
            </a:r>
            <a:r>
              <a:rPr dirty="0" err="1"/>
              <a:t>재무</a:t>
            </a:r>
            <a:r>
              <a:rPr dirty="0"/>
              <a:t> </a:t>
            </a:r>
            <a:r>
              <a:rPr dirty="0" err="1"/>
              <a:t>보고서의</a:t>
            </a:r>
            <a:r>
              <a:rPr dirty="0"/>
              <a:t> </a:t>
            </a:r>
            <a:r>
              <a:rPr dirty="0" err="1"/>
              <a:t>표는</a:t>
            </a:r>
            <a:r>
              <a:rPr dirty="0"/>
              <a:t> </a:t>
            </a:r>
            <a:r>
              <a:rPr dirty="0" err="1"/>
              <a:t>머리글이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층인</a:t>
            </a:r>
            <a:r>
              <a:rPr dirty="0"/>
              <a:t> </a:t>
            </a:r>
            <a:r>
              <a:rPr dirty="0" err="1"/>
              <a:t>계층형</a:t>
            </a:r>
            <a:r>
              <a:rPr dirty="0"/>
              <a:t> </a:t>
            </a:r>
            <a:r>
              <a:rPr dirty="0" err="1"/>
              <a:t>표입니다</a:t>
            </a:r>
            <a:r>
              <a:rPr dirty="0"/>
              <a:t>.</a:t>
            </a:r>
          </a:p>
          <a:p>
            <a:r>
              <a:rPr dirty="0"/>
              <a:t>맨 위 "December 31" </a:t>
            </a:r>
            <a:r>
              <a:rPr dirty="0" err="1"/>
              <a:t>아래에</a:t>
            </a:r>
            <a:r>
              <a:rPr dirty="0"/>
              <a:t> </a:t>
            </a:r>
            <a:r>
              <a:rPr dirty="0" err="1"/>
              <a:t>연도가</a:t>
            </a:r>
            <a:r>
              <a:rPr dirty="0"/>
              <a:t> </a:t>
            </a:r>
            <a:r>
              <a:rPr dirty="0" err="1"/>
              <a:t>있고</a:t>
            </a:r>
            <a:r>
              <a:rPr dirty="0"/>
              <a:t>, </a:t>
            </a:r>
            <a:r>
              <a:rPr dirty="0" err="1"/>
              <a:t>왼쪽에는</a:t>
            </a:r>
            <a:r>
              <a:rPr dirty="0"/>
              <a:t> "Consumer" </a:t>
            </a:r>
            <a:r>
              <a:rPr dirty="0" err="1"/>
              <a:t>아래에</a:t>
            </a:r>
            <a:r>
              <a:rPr dirty="0"/>
              <a:t> </a:t>
            </a:r>
            <a:r>
              <a:rPr dirty="0" err="1"/>
              <a:t>세부</a:t>
            </a:r>
            <a:r>
              <a:rPr dirty="0"/>
              <a:t> </a:t>
            </a:r>
            <a:r>
              <a:rPr dirty="0" err="1"/>
              <a:t>항목이</a:t>
            </a:r>
            <a:r>
              <a:rPr dirty="0"/>
              <a:t> </a:t>
            </a:r>
            <a:r>
              <a:rPr dirty="0" err="1"/>
              <a:t>있어서</a:t>
            </a:r>
            <a:r>
              <a:rPr dirty="0"/>
              <a:t>, </a:t>
            </a:r>
            <a:r>
              <a:rPr dirty="0" err="1"/>
              <a:t>숫자</a:t>
            </a:r>
            <a:r>
              <a:rPr dirty="0"/>
              <a:t> </a:t>
            </a:r>
            <a:r>
              <a:rPr dirty="0" err="1"/>
              <a:t>하나의</a:t>
            </a:r>
            <a:r>
              <a:rPr dirty="0"/>
              <a:t> </a:t>
            </a:r>
            <a:r>
              <a:rPr dirty="0" err="1"/>
              <a:t>뜻은</a:t>
            </a:r>
            <a:r>
              <a:rPr dirty="0"/>
              <a:t> </a:t>
            </a:r>
            <a:r>
              <a:rPr dirty="0" err="1"/>
              <a:t>위쪽과</a:t>
            </a:r>
            <a:r>
              <a:rPr dirty="0"/>
              <a:t> </a:t>
            </a:r>
            <a:r>
              <a:rPr dirty="0" err="1"/>
              <a:t>왼쪽</a:t>
            </a:r>
            <a:r>
              <a:rPr dirty="0"/>
              <a:t> </a:t>
            </a:r>
            <a:r>
              <a:rPr dirty="0" err="1"/>
              <a:t>머리글을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봐야</a:t>
            </a:r>
            <a:r>
              <a:rPr dirty="0"/>
              <a:t> 알 수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/>
              <a:t>첫 </a:t>
            </a:r>
            <a:r>
              <a:rPr dirty="0" err="1"/>
              <a:t>번째</a:t>
            </a:r>
            <a:r>
              <a:rPr dirty="0"/>
              <a:t> </a:t>
            </a:r>
            <a:r>
              <a:rPr dirty="0" err="1"/>
              <a:t>문제는</a:t>
            </a:r>
            <a:r>
              <a:rPr dirty="0"/>
              <a:t> 셀 </a:t>
            </a:r>
            <a:r>
              <a:rPr dirty="0" err="1"/>
              <a:t>값과</a:t>
            </a:r>
            <a:r>
              <a:rPr dirty="0"/>
              <a:t> </a:t>
            </a:r>
            <a:r>
              <a:rPr dirty="0" err="1"/>
              <a:t>머리글이</a:t>
            </a:r>
            <a:r>
              <a:rPr dirty="0"/>
              <a:t> </a:t>
            </a:r>
            <a:r>
              <a:rPr dirty="0" err="1"/>
              <a:t>떨어진다는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</a:t>
            </a:r>
          </a:p>
          <a:p>
            <a:r>
              <a:rPr dirty="0" err="1"/>
              <a:t>표를</a:t>
            </a:r>
            <a:r>
              <a:rPr dirty="0"/>
              <a:t> </a:t>
            </a:r>
            <a:r>
              <a:rPr dirty="0" err="1"/>
              <a:t>글로</a:t>
            </a:r>
            <a:r>
              <a:rPr dirty="0"/>
              <a:t> </a:t>
            </a:r>
            <a:r>
              <a:rPr dirty="0" err="1"/>
              <a:t>펼치면</a:t>
            </a:r>
            <a:r>
              <a:rPr dirty="0"/>
              <a:t> </a:t>
            </a:r>
            <a:r>
              <a:rPr dirty="0" err="1"/>
              <a:t>연도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열 </a:t>
            </a:r>
            <a:r>
              <a:rPr dirty="0" err="1"/>
              <a:t>머리글은</a:t>
            </a:r>
            <a:r>
              <a:rPr dirty="0"/>
              <a:t> 맨 위 </a:t>
            </a:r>
            <a:r>
              <a:rPr dirty="0" err="1"/>
              <a:t>두세</a:t>
            </a:r>
            <a:r>
              <a:rPr dirty="0"/>
              <a:t> </a:t>
            </a:r>
            <a:r>
              <a:rPr dirty="0" err="1"/>
              <a:t>줄에만</a:t>
            </a:r>
            <a:r>
              <a:rPr dirty="0"/>
              <a:t> </a:t>
            </a:r>
            <a:r>
              <a:rPr dirty="0" err="1"/>
              <a:t>있어서</a:t>
            </a:r>
            <a:r>
              <a:rPr dirty="0"/>
              <a:t>, 1,000자씩 </a:t>
            </a:r>
            <a:r>
              <a:rPr dirty="0" err="1"/>
              <a:t>자르면</a:t>
            </a:r>
            <a:r>
              <a:rPr dirty="0"/>
              <a:t> </a:t>
            </a:r>
            <a:r>
              <a:rPr dirty="0" err="1"/>
              <a:t>아래쪽</a:t>
            </a:r>
            <a:r>
              <a:rPr dirty="0"/>
              <a:t> </a:t>
            </a:r>
            <a:r>
              <a:rPr dirty="0" err="1"/>
              <a:t>청크에는</a:t>
            </a:r>
            <a:r>
              <a:rPr dirty="0"/>
              <a:t> </a:t>
            </a:r>
            <a:r>
              <a:rPr dirty="0" err="1"/>
              <a:t>머리글</a:t>
            </a:r>
            <a:r>
              <a:rPr dirty="0"/>
              <a:t> </a:t>
            </a:r>
            <a:r>
              <a:rPr dirty="0" err="1"/>
              <a:t>줄이</a:t>
            </a:r>
            <a:r>
              <a:rPr dirty="0"/>
              <a:t> </a:t>
            </a:r>
            <a:r>
              <a:rPr dirty="0" err="1"/>
              <a:t>들어가지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청크</a:t>
            </a:r>
            <a:r>
              <a:rPr dirty="0"/>
              <a:t> 2를 </a:t>
            </a:r>
            <a:r>
              <a:rPr dirty="0" err="1"/>
              <a:t>가리키며</a:t>
            </a:r>
            <a:r>
              <a:rPr dirty="0"/>
              <a:t>] 이 </a:t>
            </a:r>
            <a:r>
              <a:rPr dirty="0" err="1"/>
              <a:t>청크</a:t>
            </a:r>
            <a:r>
              <a:rPr dirty="0"/>
              <a:t> 2만 </a:t>
            </a:r>
            <a:r>
              <a:rPr dirty="0" err="1"/>
              <a:t>검색되면</a:t>
            </a:r>
            <a:r>
              <a:rPr dirty="0"/>
              <a:t> 20,854가 2011년 </a:t>
            </a:r>
            <a:r>
              <a:rPr dirty="0" err="1"/>
              <a:t>값인지</a:t>
            </a:r>
            <a:r>
              <a:rPr dirty="0"/>
              <a:t> 2010년 </a:t>
            </a:r>
            <a:r>
              <a:rPr dirty="0" err="1"/>
              <a:t>값인지</a:t>
            </a:r>
            <a:r>
              <a:rPr dirty="0"/>
              <a:t> 알 수 </a:t>
            </a:r>
            <a:r>
              <a:rPr dirty="0" err="1"/>
              <a:t>없습니다</a:t>
            </a:r>
            <a:r>
              <a:rPr dirty="0"/>
              <a:t>.</a:t>
            </a:r>
          </a:p>
          <a:p>
            <a:r>
              <a:rPr dirty="0" err="1"/>
              <a:t>재무</a:t>
            </a:r>
            <a:r>
              <a:rPr dirty="0"/>
              <a:t> </a:t>
            </a:r>
            <a:r>
              <a:rPr dirty="0" err="1"/>
              <a:t>보고서</a:t>
            </a:r>
            <a:r>
              <a:rPr dirty="0"/>
              <a:t> </a:t>
            </a:r>
            <a:r>
              <a:rPr dirty="0" err="1"/>
              <a:t>질의응답</a:t>
            </a:r>
            <a:r>
              <a:rPr dirty="0"/>
              <a:t> </a:t>
            </a:r>
            <a:r>
              <a:rPr dirty="0" err="1"/>
              <a:t>데이터인</a:t>
            </a:r>
            <a:r>
              <a:rPr dirty="0"/>
              <a:t> </a:t>
            </a:r>
            <a:r>
              <a:rPr dirty="0" err="1"/>
              <a:t>MultiHiertt의</a:t>
            </a:r>
            <a:r>
              <a:rPr dirty="0"/>
              <a:t> 2,885문항에서, 11.8%는 </a:t>
            </a:r>
            <a:r>
              <a:rPr dirty="0" err="1"/>
              <a:t>답의</a:t>
            </a:r>
            <a:r>
              <a:rPr dirty="0"/>
              <a:t> </a:t>
            </a:r>
            <a:r>
              <a:rPr dirty="0" err="1"/>
              <a:t>근거인</a:t>
            </a:r>
            <a:r>
              <a:rPr dirty="0"/>
              <a:t> </a:t>
            </a:r>
            <a:r>
              <a:rPr dirty="0" err="1"/>
              <a:t>셀이</a:t>
            </a:r>
            <a:r>
              <a:rPr dirty="0"/>
              <a:t> 열 </a:t>
            </a:r>
            <a:r>
              <a:rPr dirty="0" err="1"/>
              <a:t>머리글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청크에만</a:t>
            </a:r>
            <a:r>
              <a:rPr dirty="0"/>
              <a:t> </a:t>
            </a:r>
            <a:r>
              <a:rPr dirty="0" err="1"/>
              <a:t>들어</a:t>
            </a:r>
            <a:r>
              <a:rPr dirty="0"/>
              <a:t> </a:t>
            </a:r>
            <a:r>
              <a:rPr dirty="0" err="1"/>
              <a:t>있었습니다</a:t>
            </a:r>
            <a:r>
              <a:rPr dirty="0"/>
              <a:t>.</a:t>
            </a:r>
          </a:p>
          <a:p>
            <a:r>
              <a:rPr dirty="0" err="1"/>
              <a:t>앞으로</a:t>
            </a:r>
            <a:r>
              <a:rPr dirty="0"/>
              <a:t> </a:t>
            </a:r>
            <a:r>
              <a:rPr dirty="0" err="1"/>
              <a:t>데이터셋이</a:t>
            </a:r>
            <a:r>
              <a:rPr dirty="0"/>
              <a:t> </a:t>
            </a:r>
            <a:r>
              <a:rPr dirty="0" err="1"/>
              <a:t>답의</a:t>
            </a:r>
            <a:r>
              <a:rPr dirty="0"/>
              <a:t> </a:t>
            </a:r>
            <a:r>
              <a:rPr dirty="0" err="1"/>
              <a:t>근거로</a:t>
            </a:r>
            <a:r>
              <a:rPr dirty="0"/>
              <a:t> </a:t>
            </a:r>
            <a:r>
              <a:rPr dirty="0" err="1"/>
              <a:t>표시한</a:t>
            </a:r>
            <a:r>
              <a:rPr dirty="0"/>
              <a:t> </a:t>
            </a:r>
            <a:r>
              <a:rPr dirty="0" err="1"/>
              <a:t>셀을</a:t>
            </a:r>
            <a:r>
              <a:rPr dirty="0"/>
              <a:t> "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셀"이라고</a:t>
            </a:r>
            <a:r>
              <a:rPr dirty="0"/>
              <a:t> </a:t>
            </a:r>
            <a:r>
              <a:rPr dirty="0" err="1"/>
              <a:t>부르겠습니다</a:t>
            </a:r>
            <a:r>
              <a:rPr dirty="0"/>
              <a:t>.</a:t>
            </a:r>
          </a:p>
          <a:p>
            <a:r>
              <a:rPr dirty="0"/>
              <a:t>두 </a:t>
            </a:r>
            <a:r>
              <a:rPr dirty="0" err="1"/>
              <a:t>번째</a:t>
            </a:r>
            <a:r>
              <a:rPr dirty="0"/>
              <a:t> </a:t>
            </a:r>
            <a:r>
              <a:rPr dirty="0" err="1"/>
              <a:t>문제는</a:t>
            </a:r>
            <a:r>
              <a:rPr dirty="0"/>
              <a:t> </a:t>
            </a:r>
            <a:r>
              <a:rPr dirty="0" err="1"/>
              <a:t>답에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셀이</a:t>
            </a:r>
            <a:r>
              <a:rPr dirty="0"/>
              <a:t> </a:t>
            </a:r>
            <a:r>
              <a:rPr dirty="0" err="1"/>
              <a:t>너무</a:t>
            </a:r>
            <a:r>
              <a:rPr dirty="0"/>
              <a:t> </a:t>
            </a:r>
            <a:r>
              <a:rPr dirty="0" err="1"/>
              <a:t>많이</a:t>
            </a:r>
            <a:r>
              <a:rPr dirty="0"/>
              <a:t> </a:t>
            </a:r>
            <a:r>
              <a:rPr dirty="0" err="1"/>
              <a:t>전달된다는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</a:t>
            </a:r>
          </a:p>
          <a:p>
            <a:r>
              <a:rPr dirty="0"/>
              <a:t>한 </a:t>
            </a:r>
            <a:r>
              <a:rPr dirty="0" err="1"/>
              <a:t>문항에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셀은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2.37개인데, </a:t>
            </a:r>
            <a:r>
              <a:rPr dirty="0" err="1"/>
              <a:t>LangChain</a:t>
            </a:r>
            <a:r>
              <a:rPr dirty="0"/>
              <a:t> 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튜토리얼대로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 4개 </a:t>
            </a:r>
            <a:r>
              <a:rPr dirty="0" err="1"/>
              <a:t>청크를</a:t>
            </a:r>
            <a:r>
              <a:rPr dirty="0"/>
              <a:t> </a:t>
            </a:r>
            <a:r>
              <a:rPr dirty="0" err="1"/>
              <a:t>전달하면</a:t>
            </a:r>
            <a:r>
              <a:rPr dirty="0"/>
              <a:t> 한 </a:t>
            </a:r>
            <a:r>
              <a:rPr dirty="0" err="1"/>
              <a:t>문항에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126.8개의 </a:t>
            </a:r>
            <a:r>
              <a:rPr dirty="0" err="1"/>
              <a:t>셀이</a:t>
            </a:r>
            <a:r>
              <a:rPr dirty="0"/>
              <a:t> </a:t>
            </a:r>
            <a:r>
              <a:rPr dirty="0" err="1"/>
              <a:t>들어갑니다</a:t>
            </a:r>
            <a:r>
              <a:rPr dirty="0"/>
              <a:t>.</a:t>
            </a:r>
          </a:p>
          <a:p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셀 </a:t>
            </a:r>
            <a:r>
              <a:rPr dirty="0" err="1"/>
              <a:t>가운데</a:t>
            </a:r>
            <a:r>
              <a:rPr dirty="0"/>
              <a:t> </a:t>
            </a:r>
            <a:r>
              <a:rPr dirty="0" err="1"/>
              <a:t>전달된</a:t>
            </a:r>
            <a:r>
              <a:rPr dirty="0"/>
              <a:t> </a:t>
            </a:r>
            <a:r>
              <a:rPr dirty="0" err="1"/>
              <a:t>비율인</a:t>
            </a:r>
            <a:r>
              <a:rPr dirty="0"/>
              <a:t> </a:t>
            </a:r>
            <a:r>
              <a:rPr dirty="0" err="1"/>
              <a:t>재현율은</a:t>
            </a:r>
            <a:r>
              <a:rPr dirty="0"/>
              <a:t> 99.4%로 </a:t>
            </a:r>
            <a:r>
              <a:rPr dirty="0" err="1"/>
              <a:t>높지만</a:t>
            </a:r>
            <a:r>
              <a:rPr dirty="0"/>
              <a:t>, </a:t>
            </a:r>
            <a:r>
              <a:rPr dirty="0" err="1"/>
              <a:t>전달된</a:t>
            </a:r>
            <a:r>
              <a:rPr dirty="0"/>
              <a:t> 셀 </a:t>
            </a:r>
            <a:r>
              <a:rPr dirty="0" err="1"/>
              <a:t>가운데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셀은</a:t>
            </a:r>
            <a:r>
              <a:rPr dirty="0"/>
              <a:t> 2.0%뿐입니다.</a:t>
            </a:r>
          </a:p>
          <a:p>
            <a:r>
              <a:rPr dirty="0" err="1"/>
              <a:t>선행</a:t>
            </a:r>
            <a:r>
              <a:rPr dirty="0"/>
              <a:t> </a:t>
            </a:r>
            <a:r>
              <a:rPr dirty="0" err="1"/>
              <a:t>연구에서는</a:t>
            </a:r>
            <a:r>
              <a:rPr dirty="0"/>
              <a:t> </a:t>
            </a:r>
            <a:r>
              <a:rPr dirty="0" err="1"/>
              <a:t>이렇게</a:t>
            </a:r>
            <a:r>
              <a:rPr dirty="0"/>
              <a:t> </a:t>
            </a:r>
            <a:r>
              <a:rPr dirty="0" err="1"/>
              <a:t>관계없는</a:t>
            </a:r>
            <a:r>
              <a:rPr dirty="0"/>
              <a:t> </a:t>
            </a:r>
            <a:r>
              <a:rPr dirty="0" err="1"/>
              <a:t>내용이</a:t>
            </a:r>
            <a:r>
              <a:rPr dirty="0"/>
              <a:t> </a:t>
            </a:r>
            <a:r>
              <a:rPr dirty="0" err="1"/>
              <a:t>섞이면</a:t>
            </a:r>
            <a:r>
              <a:rPr dirty="0"/>
              <a:t> </a:t>
            </a:r>
            <a:r>
              <a:rPr dirty="0" err="1"/>
              <a:t>LLM의</a:t>
            </a:r>
            <a:r>
              <a:rPr dirty="0"/>
              <a:t> </a:t>
            </a:r>
            <a:r>
              <a:rPr dirty="0" err="1"/>
              <a:t>정확도가</a:t>
            </a:r>
            <a:r>
              <a:rPr dirty="0"/>
              <a:t> </a:t>
            </a:r>
            <a:r>
              <a:rPr dirty="0" err="1"/>
              <a:t>떨어진다고</a:t>
            </a:r>
            <a:r>
              <a:rPr dirty="0"/>
              <a:t> </a:t>
            </a:r>
            <a:r>
              <a:rPr dirty="0" err="1"/>
              <a:t>보고했습니다</a:t>
            </a:r>
            <a:r>
              <a:rPr dirty="0"/>
              <a:t>.</a:t>
            </a:r>
          </a:p>
          <a:p>
            <a:r>
              <a:rPr dirty="0" err="1"/>
              <a:t>Cuconasu</a:t>
            </a:r>
            <a:r>
              <a:rPr dirty="0"/>
              <a:t> </a:t>
            </a:r>
            <a:r>
              <a:rPr dirty="0" err="1"/>
              <a:t>등은</a:t>
            </a:r>
            <a:r>
              <a:rPr dirty="0"/>
              <a:t> </a:t>
            </a:r>
            <a:r>
              <a:rPr dirty="0" err="1"/>
              <a:t>질문과</a:t>
            </a:r>
            <a:r>
              <a:rPr dirty="0"/>
              <a:t> </a:t>
            </a:r>
            <a:r>
              <a:rPr dirty="0" err="1"/>
              <a:t>비슷하지만</a:t>
            </a:r>
            <a:r>
              <a:rPr dirty="0"/>
              <a:t> </a:t>
            </a:r>
            <a:r>
              <a:rPr dirty="0" err="1"/>
              <a:t>답이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문서를</a:t>
            </a:r>
            <a:r>
              <a:rPr dirty="0"/>
              <a:t> </a:t>
            </a:r>
            <a:r>
              <a:rPr dirty="0" err="1"/>
              <a:t>추가하면</a:t>
            </a:r>
            <a:r>
              <a:rPr dirty="0"/>
              <a:t>, Shi </a:t>
            </a:r>
            <a:r>
              <a:rPr dirty="0" err="1"/>
              <a:t>등은</a:t>
            </a:r>
            <a:r>
              <a:rPr dirty="0"/>
              <a:t> </a:t>
            </a:r>
            <a:r>
              <a:rPr dirty="0" err="1"/>
              <a:t>산술</a:t>
            </a:r>
            <a:r>
              <a:rPr dirty="0"/>
              <a:t> </a:t>
            </a:r>
            <a:r>
              <a:rPr dirty="0" err="1"/>
              <a:t>문제에</a:t>
            </a:r>
            <a:r>
              <a:rPr dirty="0"/>
              <a:t> </a:t>
            </a:r>
            <a:r>
              <a:rPr dirty="0" err="1"/>
              <a:t>관계없는</a:t>
            </a:r>
            <a:r>
              <a:rPr dirty="0"/>
              <a:t> </a:t>
            </a:r>
            <a:r>
              <a:rPr dirty="0" err="1"/>
              <a:t>문장</a:t>
            </a:r>
            <a:r>
              <a:rPr dirty="0"/>
              <a:t> </a:t>
            </a:r>
            <a:r>
              <a:rPr dirty="0" err="1"/>
              <a:t>하나만</a:t>
            </a:r>
            <a:r>
              <a:rPr dirty="0"/>
              <a:t> </a:t>
            </a:r>
            <a:r>
              <a:rPr dirty="0" err="1"/>
              <a:t>추가해도</a:t>
            </a:r>
            <a:r>
              <a:rPr dirty="0"/>
              <a:t> </a:t>
            </a:r>
            <a:r>
              <a:rPr dirty="0" err="1"/>
              <a:t>정확도가</a:t>
            </a:r>
            <a:r>
              <a:rPr dirty="0"/>
              <a:t> </a:t>
            </a:r>
            <a:r>
              <a:rPr dirty="0" err="1"/>
              <a:t>크게</a:t>
            </a:r>
            <a:r>
              <a:rPr dirty="0"/>
              <a:t> </a:t>
            </a:r>
            <a:r>
              <a:rPr dirty="0" err="1"/>
              <a:t>떨어지는</a:t>
            </a:r>
            <a:r>
              <a:rPr dirty="0"/>
              <a:t> </a:t>
            </a:r>
            <a:r>
              <a:rPr dirty="0" err="1"/>
              <a:t>것을</a:t>
            </a:r>
            <a:r>
              <a:rPr dirty="0"/>
              <a:t> </a:t>
            </a:r>
            <a:r>
              <a:rPr dirty="0" err="1"/>
              <a:t>보였습니다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62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1:25 · 누적 4:25]</a:t>
            </a:r>
          </a:p>
          <a:p>
            <a:r>
              <a:t>기존 연구가 이 두 문제를 어떻게 다뤘는지 정리한 표입니다. 왼쪽이 문제, 가운데가 기존 방법, 오른쪽이 남는 한계입니다.</a:t>
            </a:r>
          </a:p>
          <a:p>
            <a:r>
              <a:t>첫 번째 줄, 머리글 분리 문제에는 머리글을 유지하는 방법이 나왔습니다.</a:t>
            </a:r>
          </a:p>
          <a:p>
            <a:r>
              <a:t>Docling이라는 문서 처리 도구는 청크마다 표의 머리글 줄을 다시 붙여 주고, SMART는 여러 층의 머리글을 한 층으로 합쳐 LLM이 읽기 쉽게 바꿉니다.</a:t>
            </a:r>
          </a:p>
          <a:p>
            <a:r>
              <a:t>그러나 둘 다 청크나 표 전체를 전달하므로, 전달되는 셀 수는 줄지 않습니다.</a:t>
            </a:r>
          </a:p>
          <a:p>
            <a:r>
              <a:t>두 번째 줄, 셀이 많이 전달되는 문제에는 셀 수를 줄이는 방법이 나왔습니다.</a:t>
            </a:r>
          </a:p>
          <a:p>
            <a:r>
              <a:t>Chen 등의 TableRAG는 표 전체 대신 필요한 셀만 검색합니다. 같은 이름을 쓰는 Yu 등의 논문이 있어서, 발표에서는 TableRAG(Chen), TableRAG(Yu)로 구분하겠습니다.</a:t>
            </a:r>
          </a:p>
          <a:p>
            <a:r>
              <a:t>ITR은 필요한 행과 열만 골라 작은 표를 만듭니다.</a:t>
            </a:r>
          </a:p>
          <a:p>
            <a:r>
              <a:t>그런데 TableRAG(Chen)의 검색 단위는 "열 이름과 값"의 쌍이라 행 머리글이 빠지고, ITR은 행 하나나 열 하나가 단위라서 여러 층의 머리글이 한 단위에 다 들어가지 않습니다.</a:t>
            </a:r>
          </a:p>
          <a:p>
            <a:r>
              <a:t>정리하면, 셀 수를 줄이는 방법은 머리글이 빠지고, 머리글을 지키는 방법은 셀 수가 줄지 않습니다.</a:t>
            </a:r>
          </a:p>
          <a:p>
            <a:r>
              <a:t>셀 하나를 검색 단위로 삼으면서 셀마다 머리글 경로를 붙여 두 문제를 동시에 해결한 연구는 찾지 못했고, 본 연구는 이 부분을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[약 1:10 · 누적 5:35]</a:t>
            </a:r>
          </a:p>
          <a:p>
            <a:r>
              <a:t>그래서 본 연구의 목표는 다음과 같습니다.</a:t>
            </a:r>
          </a:p>
          <a:p>
            <a:r>
              <a:t>계층형 표가 들어 있는 문서의 RAG에서, 정답 셀의 재현율을 크게 낮추지 않으면서 LLM에 전달하는 셀 수를 줄이고, 전달되는 셀 값마다 행과 열의 머리글 경로를 붙이는 검색 단위를 설계하는 것입니다.</a:t>
            </a:r>
          </a:p>
          <a:p>
            <a:r>
              <a:t>"크게 낮추지 않으면서"라고 한 것은, 뒤에서 보여 드리겠지만 제안 방법의 재현율이 93.9%로 청크 방식의 99.4%보다 조금 낮기 때문입니다.</a:t>
            </a:r>
          </a:p>
          <a:p>
            <a:r>
              <a:t>세부적으로는 세 가지를 합니다.</a:t>
            </a:r>
          </a:p>
          <a:p>
            <a:r>
              <a:t>첫째, 셀마다 행·열 머리글 경로를 붙인 "셀 문장"을 검색 단위로 설계합니다.</a:t>
            </a:r>
          </a:p>
          <a:p>
            <a:r>
              <a:t>둘째, LangChain 청크, RAPTOR, 두 가지 TableRAG와 검색 성능, 답변 정확도를 비교합니다.</a:t>
            </a:r>
          </a:p>
          <a:p>
            <a:r>
              <a:t>셋째, 셀 문장에서 머리글 경로를 뺐을 때 결과가 얼마나 달라지는지 확인해서, 머리글 경로의 효과를 검증합니다.</a:t>
            </a:r>
          </a:p>
          <a:p>
            <a:r>
              <a:t>그리고 제약 조건이 하나 있습니다.</a:t>
            </a:r>
          </a:p>
          <a:p>
            <a:r>
              <a:t>보안 때문에 문서를 외부로 보낼 수 없는 기관을 가정해서, 임베딩 모델과 LLM을 따로 학습시키지 않고, 외부 API 없이 로컬 컴퓨터에서 돌아가는 공개 모델만 사용했습니다.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722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0:05 · 누적 5:40]</a:t>
            </a:r>
          </a:p>
          <a:p>
            <a:r>
              <a:t>다음은 설계 및 구현입니다.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[약 1:20 · 누적 7:00]</a:t>
            </a:r>
          </a:p>
          <a:p>
            <a:r>
              <a:t>제안하는 시스템의 전체 흐름입니다. 위쪽은 문서가 들어올 때 한 번만 하는 색인 단계, 아래쪽은 질문이 들어올 때마다 하는 질의 단계입니다.</a:t>
            </a:r>
          </a:p>
          <a:p>
            <a:r>
              <a:t>색인은 나중에 빨리 찾을 수 있도록 문서를 검색 단위로 바꿔 미리 저장해 두는 과정입니다.</a:t>
            </a:r>
          </a:p>
          <a:p>
            <a:r>
              <a:t>색인 단계에서는 ① 각 표에서 어디까지가 머리글인지 판정해 셀마다 행 경로와 열 경로를 만들고, ② 경로와 셀 값을 이어 한 줄짜리 셀 문장을 만듭니다.</a:t>
            </a:r>
          </a:p>
          <a:p>
            <a:r>
              <a:t>③ 셀 문장은 임베딩합니다. 임베딩은 문장을 숫자 768개로 된 벡터로 바꾸는 것으로, 뜻이 비슷한 문장일수록 두 벡터의 코사인 유사도가 높게 나옵니다. 공개 모델인 bge-base-en-v1.5를 학습 없이 썼습니다.</a:t>
            </a:r>
          </a:p>
          <a:p>
            <a:r>
              <a:t>이 벡터를 벡터 데이터베이스에 저장하고, 단어 일치 점수를 계산하는 BM25 색인도 만들어 둡니다.</a:t>
            </a:r>
          </a:p>
          <a:p>
            <a:r>
              <a:t>질의 단계에서는 ④ 질문도 벡터로 바꿔, 질문이 속한 문서의 셀 문장 전부와 점수를 계산합니다. 점수는 코사인 유사도 0.7과 BM25 0.3을 더한 값입니다.</a:t>
            </a:r>
          </a:p>
          <a:p>
            <a:r>
              <a:t>⑤ 상위 20개 셀 문장을 질문과 함께 LLM인 Qwen3-8B에 넣으면, LLM이 계산 과정과 답을 씁니다.</a:t>
            </a:r>
          </a:p>
          <a:p>
            <a:r>
              <a:t>핵심인 ①과 ②를 다음 슬라이드에서 설명드리겠습니다.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632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[약 2:05 · 누적 9:10]</a:t>
            </a:r>
          </a:p>
          <a:p>
            <a:r>
              <a:t>머리글 경로를 만드는 과정을 실제 재무 보고서 표로 네 단계에 걸쳐 보여 드리겠습니다.</a:t>
            </a:r>
          </a:p>
          <a:p>
            <a:r>
              <a:t>이 데이터의 표에는 어느 칸이 머리글인지 표시가 없어서, 칸의 글자가 숫자인지를 보고 판정합니다. 이때 1900에서 2099까지의 네 자리 수는 연도 머리글로 봅니다.</a:t>
            </a:r>
          </a:p>
          <a:p>
            <a:r>
              <a:t>[① 그림] 먼저 위쪽 머리글입니다. 왼쪽 위 칸이 비어 있으면, 첫 열을 위에서부터 내려가며 글자가 처음 나오는 행, 여기서는 Consumer 행을 찾고, 그 위의 두 줄을 위쪽 머리글로 판정합니다.</a:t>
            </a:r>
          </a:p>
          <a:p>
            <a:r>
              <a:t>[선택] 평가 문서의 표 가운데 66.9%가 이렇게 왼쪽 위 칸이 비어 있었습니다.</a:t>
            </a:r>
          </a:p>
          <a:p>
            <a:r>
              <a:t>[② 그림] 다음은 왼쪽 머리글입니다. 위쪽 머리글의 마지막 줄에서 왼쪽부터 연속으로 비어 있는 칸이 1개이므로, 첫 열 하나를 왼쪽 머리글로 판정합니다.</a:t>
            </a:r>
          </a:p>
          <a:p>
            <a:r>
              <a:t>[선택] 평가 문서의 표 가운데 95.2%가 첫 열 하나가 왼쪽 머리글이었습니다.</a:t>
            </a:r>
          </a:p>
          <a:p>
            <a:r>
              <a:t>[③ 그림] 이제 20,854의 경로를 만듭니다. 열 경로는 이 셀 위의 머리글을 위에서부터 이은 "December 31 &gt; 2010"이고, 두 열에 걸친 December 31은 두 열 모두의 머리글로 씁니다.</a:t>
            </a:r>
          </a:p>
          <a:p>
            <a:r>
              <a:t>행 경로는 "Consumer &gt; Total consumer"입니다. Consumer 행은 값 칸이 모두 비어 있어서, 아래 행들을 묶는 제목 행으로 보고 맨 앞에 붙였습니다.</a:t>
            </a:r>
          </a:p>
          <a:p>
            <a:r>
              <a:t>꺾쇠 기호는 상위에서 하위 머리글로 이어진다는 표시인데, 평가 문서의 머리글 칸 18만여 개 중 이 기호가 들어간 칸은 13개뿐이라 머리글 글자와 헷갈리지 않습니다.</a:t>
            </a:r>
          </a:p>
          <a:p>
            <a:r>
              <a:t>[④ 그림] 한 문서에 구조가 같은 표가 또 있으면, 표 2의 21,747처럼 경로가 완전히 같아집니다. 이때는 행 경로 앞에 "Table 1", "Table 2"처럼 문서 안의 표 순서를 붙여 구별합니다.</a:t>
            </a:r>
          </a:p>
          <a:p>
            <a:r>
              <a:t>[아래 설명 줄] 머리글 구조가 정답으로 주어지는 HiTab의 표 3,597개에 같은 규칙을 적용해 보니, 위쪽 머리글 줄 수는 91.1%, 왼쪽 머리글 열 수는 91.9%의 표에서 맞았습니다.</a:t>
            </a:r>
          </a:p>
          <a:p>
            <a:r>
              <a:t>[선택] 다만 규칙을 만들 때 HiTab의 표도 참고했기 때문에, 처음 보는 표에서만 잰 값은 아닙니다.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653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[약 1:10 · 누적 10:20]</a:t>
            </a:r>
          </a:p>
          <a:p>
            <a:r>
              <a:t>이렇게 만든 경로로 셀 문장을 만듭니다.</a:t>
            </a:r>
          </a:p>
          <a:p>
            <a:r>
              <a:t>MultiHiertt처럼 표 제목, 즉 캡션이 없는 표에서는 "행 경로 &gt; 열 경로: 값" 형태의 한 줄이 됩니다.</a:t>
            </a:r>
          </a:p>
          <a:p>
            <a:r>
              <a:t>그림처럼 표의 값 네 개가 셀 문장 네 개가 됩니다.</a:t>
            </a:r>
          </a:p>
          <a:p>
            <a:r>
              <a:t>예를 들어 20,854는 "Consumer &gt; Total consumer &gt; December 31 &gt; 2010: 20,854"가 됩니다.</a:t>
            </a:r>
          </a:p>
          <a:p>
            <a:r>
              <a:t>이 한 줄만 LLM에 전달되어도, 이 숫자가 Total consumer 항목의 2010년 12월 31일 값이라는 것을 알 수 있습니다. 앞에서 본 청크 2와 다른 점이 바로 이것입니다.</a:t>
            </a:r>
          </a:p>
          <a:p>
            <a:r>
              <a:t>셀 하나가 셀 문장 하나이고, 벡터 하나이고, 검색 단위 하나입니다. 머리글 칸과 빈 칸으로는 문장을 만들지 않습니다.</a:t>
            </a:r>
          </a:p>
          <a:p>
            <a:r>
              <a:t>표에 캡션이 있으면 "In the table 캡션, among 행 경로, the value of 열 경로 is 값" 형태로 캡션을 함께 넣습니다.</a:t>
            </a:r>
          </a:p>
          <a:p>
            <a:r>
              <a:t>캡션이 있는 HiTab 데이터로 확인해 보니, 평가용 표 538개를 한데 모아 검색하는 조건에서 캡션을 넣으면, 상위 20개 안에 정답 셀이 들어오는 비율이 81.2%에서 91.4%로 올랐습니다.</a:t>
            </a:r>
          </a:p>
          <a:p>
            <a:r>
              <a:t>캡션이 그 셀이 어느 표에 속하는지를 알려 주기 때문으로 해석합니다.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6721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[약 1:35 · 누적 11:55]</a:t>
            </a:r>
          </a:p>
          <a:p>
            <a:r>
              <a:t>질문이 들어왔을 때 셀 문장의 순위를 매기는 방법입니다.</a:t>
            </a:r>
          </a:p>
          <a:p>
            <a:r>
              <a:t>코사인 유사도는 질문과 셀 문장의 뜻이 얼마나 가까운지를 보고, BM25는 질문의 단어가 셀 문장에 그대로 나오는지를 보는데, 드문 단어가 일치할수록 점수가 높습니다.</a:t>
            </a:r>
          </a:p>
          <a:p>
            <a:r>
              <a:t>재무 질문에는 "Operating revenues", "2011"처럼 항목 이름과 연도가 그대로 나오는 경우가 많아서 두 점수를 함께 씁니다.</a:t>
            </a:r>
          </a:p>
          <a:p>
            <a:r>
              <a:t>두 점수는 범위가 달라서, 색인 전체에서 가장 낮은 점수를 0, 가장 높은 점수를 1로 맞춘 뒤 0.7 대 0.3으로 더합니다.</a:t>
            </a:r>
          </a:p>
          <a:p>
            <a:r>
              <a:t>0.7은 Bruch 등이 2023년 TOIS 논문에서 이런 결합에 권고한 0.6에서 0.8 사이의 값입니다.</a:t>
            </a:r>
          </a:p>
          <a:p>
            <a:r>
              <a:t>평가 문항과 겹치지 않는 검증용 332문항에서도 0.5에서 0.9 사이는 재현율 차이가 0.8%p 이내였고, 코사인만 쓰거나 BM25만 쓸 때가 가장 낮았습니다.</a:t>
            </a:r>
          </a:p>
          <a:p>
            <a:r>
              <a:t>[표를 가리키며] 실제 예시입니다. "2011년 Operating revenues는 얼마인가"라는 질문에서, 1위는 항목과 연도가 모두 맞는 정답 셀 10,432입니다.</a:t>
            </a:r>
          </a:p>
          <a:p>
            <a:r>
              <a:t>2위는 연도만 맞는 Operating income, 3위와 4위는 항목만 맞는 2012년과 2013년 값입니다.</a:t>
            </a:r>
          </a:p>
          <a:p>
            <a:r>
              <a:t>이렇게 뽑은 상위 20개 셀 문장을 LLM에 넣었고, LLM은 10,432라는 정답을 냈습니다.</a:t>
            </a:r>
          </a:p>
          <a:p>
            <a:r>
              <a:t>[선택] 전달하는 셀 수 20개도 같은 검증용 문항에서 5개부터 75개까지 비교해 확인했으며, 5개만 20개보다 유의하게 낮았습니다.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604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0:05 · 누적 12:00]</a:t>
            </a:r>
          </a:p>
          <a:p>
            <a:r>
              <a:t>다음은 실험 및 평가입니다.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[약 0:40 · 누적 12:40]</a:t>
            </a:r>
          </a:p>
          <a:p>
            <a:r>
              <a:t>모든 실험은 RTX 3060 Ti 8GB GPU 한 장이 달린 컴퓨터 한 대에서, 외부 API 없이 수행했습니다.</a:t>
            </a:r>
          </a:p>
          <a:p>
            <a:r>
              <a:t>임베딩 모델은 bge-base-en-v1.5로 문장을 768차원 벡터로 바꾸며, 학습은 하지 않았습니다.</a:t>
            </a:r>
          </a:p>
          <a:p>
            <a:r>
              <a:t>LLM은 Qwen3-8B입니다. 8GB GPU에 올리기 위해 모델 숫자의 정밀도를 4비트로 줄이는 양자화를 했고, 매 단계에서 확률이 가장 높은 단어를 고르는 그리디 디코딩을 써서 같은 입력에는 항상 같은 답이 나오게 했습니다.</a:t>
            </a:r>
          </a:p>
          <a:p>
            <a:r>
              <a:t>재정렬 모델은 TableRAG(Yu)가 원래 쓰는 구성이라서 그 비교군에서만 사용했습니다.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234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[약 1:30 · 누적 14:10]</a:t>
            </a:r>
          </a:p>
          <a:p>
            <a:r>
              <a:t>데이터는 MultiHiertt입니다. 재무 보고서 문서마다 여러 개의 계층형 표가 있는 질의응답 데이터로, 문서 하나에 평균 표 4.05개, 데이터 셀 145.7개가 있습니다.</a:t>
            </a:r>
          </a:p>
          <a:p>
            <a:r>
              <a:t>공개 평가 집합에는 정답 근거가 없어서 학습 집합에서 평가 문항을 구성했습니다. 어떤 방법도 학습을 하지 않으므로 모델이 문항을 미리 본 것은 아닙니다.</a:t>
            </a:r>
          </a:p>
          <a:p>
            <a:r>
              <a:t>표만으로 답할 수 있는 2,885문항으로 검색 성능을, 그중 200문항으로 답변 정확도를 평가했습니다. 200문항으로 한 것은 LLM을 여러 번 호출하는 비교군의 실행 시간 때문입니다.</a:t>
            </a:r>
          </a:p>
          <a:p>
            <a:r>
              <a:t>조회 116문항은 값을 찾기만 하면 되는 문항, 산술 84문항은 찾은 값으로 계산까지 해야 하는 문항입니다.</a:t>
            </a:r>
          </a:p>
          <a:p>
            <a:r>
              <a:t>[표를 가리키며] 비교군은 네 가지입니다.</a:t>
            </a:r>
          </a:p>
          <a:p>
            <a:r>
              <a:t>LangChain 청크는 튜토리얼대로 1,000자씩 잘라 상위 4개 청크를 넣습니다.</a:t>
            </a:r>
          </a:p>
          <a:p>
            <a:r>
              <a:t>RAPTOR는 작은 청크들을 LLM으로 요약해 트리를 만들고, 원문과 요약을 함께 검색해 넣습니다.</a:t>
            </a:r>
          </a:p>
          <a:p>
            <a:r>
              <a:t>TableRAG(Chen)은 열 정보와 셀을 검색한 뒤 LLM이 파이썬 코드를 짜서 답을 계산하고, TableRAG(Yu)는 질문을 작은 질문으로 나눠 청크 검색과 SQL 실행을 반복합니다.</a:t>
            </a:r>
          </a:p>
          <a:p>
            <a:r>
              <a:t>모든 방법에 같은 LLM과 임베딩 모델을 쓰고, 검색 범위도 질문이 속한 문서로 같게 맞췄습니다. 검색 없이 표 전체를 넣는 조건도 참고로 함께 보겠습니다.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4918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[약 1:35 · </a:t>
            </a:r>
            <a:r>
              <a:rPr dirty="0" err="1"/>
              <a:t>누적</a:t>
            </a:r>
            <a:r>
              <a:rPr dirty="0"/>
              <a:t> 15:45]</a:t>
            </a:r>
          </a:p>
          <a:p>
            <a:r>
              <a:rPr dirty="0" err="1"/>
              <a:t>평가</a:t>
            </a:r>
            <a:r>
              <a:rPr dirty="0"/>
              <a:t> </a:t>
            </a:r>
            <a:r>
              <a:rPr dirty="0" err="1"/>
              <a:t>지표입니다</a:t>
            </a:r>
            <a:r>
              <a:rPr dirty="0"/>
              <a:t>. </a:t>
            </a:r>
            <a:r>
              <a:rPr dirty="0" err="1"/>
              <a:t>여기서</a:t>
            </a:r>
            <a:r>
              <a:rPr dirty="0"/>
              <a:t> </a:t>
            </a:r>
            <a:r>
              <a:rPr dirty="0" err="1"/>
              <a:t>k는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 몇 </a:t>
            </a:r>
            <a:r>
              <a:rPr dirty="0" err="1"/>
              <a:t>개의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단위까지</a:t>
            </a:r>
            <a:r>
              <a:rPr dirty="0"/>
              <a:t> </a:t>
            </a:r>
            <a:r>
              <a:rPr dirty="0" err="1"/>
              <a:t>보느냐를</a:t>
            </a:r>
            <a:r>
              <a:rPr dirty="0"/>
              <a:t> </a:t>
            </a:r>
            <a:r>
              <a:rPr dirty="0" err="1"/>
              <a:t>뜻합니다</a:t>
            </a:r>
            <a:r>
              <a:rPr dirty="0"/>
              <a:t>.</a:t>
            </a:r>
          </a:p>
          <a:p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단위의</a:t>
            </a:r>
            <a:r>
              <a:rPr dirty="0"/>
              <a:t> </a:t>
            </a:r>
            <a:r>
              <a:rPr dirty="0" err="1"/>
              <a:t>크기는</a:t>
            </a:r>
            <a:r>
              <a:rPr dirty="0"/>
              <a:t> </a:t>
            </a:r>
            <a:r>
              <a:rPr dirty="0" err="1"/>
              <a:t>방법마다</a:t>
            </a:r>
            <a:r>
              <a:rPr dirty="0"/>
              <a:t> </a:t>
            </a:r>
            <a:r>
              <a:rPr dirty="0" err="1"/>
              <a:t>다릅니다</a:t>
            </a:r>
            <a:r>
              <a:rPr dirty="0"/>
              <a:t>. </a:t>
            </a:r>
            <a:r>
              <a:rPr dirty="0" err="1"/>
              <a:t>제안</a:t>
            </a:r>
            <a:r>
              <a:rPr dirty="0"/>
              <a:t> </a:t>
            </a:r>
            <a:r>
              <a:rPr dirty="0" err="1"/>
              <a:t>방법은</a:t>
            </a:r>
            <a:r>
              <a:rPr dirty="0"/>
              <a:t>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하나가</a:t>
            </a:r>
            <a:r>
              <a:rPr dirty="0"/>
              <a:t> 셀 </a:t>
            </a:r>
            <a:r>
              <a:rPr dirty="0" err="1"/>
              <a:t>하나이고</a:t>
            </a:r>
            <a:r>
              <a:rPr dirty="0"/>
              <a:t>, </a:t>
            </a:r>
            <a:r>
              <a:rPr dirty="0" err="1"/>
              <a:t>LangChain</a:t>
            </a:r>
            <a:r>
              <a:rPr dirty="0"/>
              <a:t> </a:t>
            </a:r>
            <a:r>
              <a:rPr dirty="0" err="1"/>
              <a:t>청크는</a:t>
            </a:r>
            <a:r>
              <a:rPr dirty="0"/>
              <a:t>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하나에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37.5개의 </a:t>
            </a:r>
            <a:r>
              <a:rPr dirty="0" err="1"/>
              <a:t>셀이</a:t>
            </a:r>
            <a:r>
              <a:rPr dirty="0"/>
              <a:t> </a:t>
            </a:r>
            <a:r>
              <a:rPr dirty="0" err="1"/>
              <a:t>들어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lang="en-US" dirty="0" err="1"/>
              <a:t>Recall</a:t>
            </a:r>
            <a:r>
              <a:rPr dirty="0" err="1"/>
              <a:t>@k는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셀 </a:t>
            </a:r>
            <a:r>
              <a:rPr dirty="0" err="1"/>
              <a:t>가운데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 </a:t>
            </a:r>
            <a:r>
              <a:rPr dirty="0" err="1"/>
              <a:t>k개</a:t>
            </a:r>
            <a:r>
              <a:rPr dirty="0"/>
              <a:t>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들어온</a:t>
            </a:r>
            <a:r>
              <a:rPr dirty="0"/>
              <a:t> </a:t>
            </a:r>
            <a:r>
              <a:rPr dirty="0" err="1"/>
              <a:t>비율입니다</a:t>
            </a:r>
            <a:r>
              <a:rPr dirty="0"/>
              <a:t>.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셀이</a:t>
            </a:r>
            <a:r>
              <a:rPr dirty="0"/>
              <a:t> 2개인 </a:t>
            </a:r>
            <a:r>
              <a:rPr dirty="0" err="1"/>
              <a:t>문항에서</a:t>
            </a:r>
            <a:r>
              <a:rPr dirty="0"/>
              <a:t> 1개만 </a:t>
            </a:r>
            <a:r>
              <a:rPr dirty="0" err="1"/>
              <a:t>들어오면</a:t>
            </a:r>
            <a:r>
              <a:rPr dirty="0"/>
              <a:t> 50%이고, </a:t>
            </a:r>
            <a:r>
              <a:rPr dirty="0" err="1"/>
              <a:t>이것을</a:t>
            </a:r>
            <a:r>
              <a:rPr dirty="0"/>
              <a:t> </a:t>
            </a:r>
            <a:r>
              <a:rPr dirty="0" err="1"/>
              <a:t>문항마다</a:t>
            </a:r>
            <a:r>
              <a:rPr dirty="0"/>
              <a:t> </a:t>
            </a:r>
            <a:r>
              <a:rPr dirty="0" err="1"/>
              <a:t>계산해</a:t>
            </a:r>
            <a:r>
              <a:rPr dirty="0"/>
              <a:t> </a:t>
            </a:r>
            <a:r>
              <a:rPr dirty="0" err="1"/>
              <a:t>평균을</a:t>
            </a:r>
            <a:r>
              <a:rPr dirty="0"/>
              <a:t> </a:t>
            </a:r>
            <a:r>
              <a:rPr dirty="0" err="1"/>
              <a:t>냅니다</a:t>
            </a:r>
            <a:r>
              <a:rPr dirty="0"/>
              <a:t>.</a:t>
            </a:r>
          </a:p>
          <a:p>
            <a:r>
              <a:rPr lang="en-US" dirty="0" err="1"/>
              <a:t>Precision</a:t>
            </a:r>
            <a:r>
              <a:rPr dirty="0" err="1"/>
              <a:t>@k는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 </a:t>
            </a:r>
            <a:r>
              <a:rPr dirty="0" err="1"/>
              <a:t>k개</a:t>
            </a:r>
            <a:r>
              <a:rPr dirty="0"/>
              <a:t>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가운데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셀을</a:t>
            </a:r>
            <a:r>
              <a:rPr dirty="0"/>
              <a:t> </a:t>
            </a:r>
            <a:r>
              <a:rPr dirty="0" err="1"/>
              <a:t>하나라도</a:t>
            </a:r>
            <a:r>
              <a:rPr dirty="0"/>
              <a:t> </a:t>
            </a:r>
            <a:r>
              <a:rPr dirty="0" err="1"/>
              <a:t>포함한</a:t>
            </a:r>
            <a:r>
              <a:rPr dirty="0"/>
              <a:t> </a:t>
            </a:r>
            <a:r>
              <a:rPr dirty="0" err="1"/>
              <a:t>단위의</a:t>
            </a:r>
            <a:r>
              <a:rPr dirty="0"/>
              <a:t> </a:t>
            </a:r>
            <a:r>
              <a:rPr dirty="0" err="1"/>
              <a:t>비율입니다</a:t>
            </a:r>
            <a:r>
              <a:rPr dirty="0"/>
              <a:t>.</a:t>
            </a:r>
          </a:p>
          <a:p>
            <a:r>
              <a:rPr dirty="0" err="1"/>
              <a:t>그런데</a:t>
            </a:r>
            <a:r>
              <a:rPr dirty="0"/>
              <a:t> </a:t>
            </a:r>
            <a:r>
              <a:rPr dirty="0" err="1"/>
              <a:t>정밀도는</a:t>
            </a:r>
            <a:r>
              <a:rPr dirty="0"/>
              <a:t>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셀이</a:t>
            </a:r>
            <a:r>
              <a:rPr dirty="0"/>
              <a:t> 몇 개 </a:t>
            </a:r>
            <a:r>
              <a:rPr dirty="0" err="1"/>
              <a:t>있는지를</a:t>
            </a:r>
            <a:r>
              <a:rPr dirty="0"/>
              <a:t> </a:t>
            </a:r>
            <a:r>
              <a:rPr dirty="0" err="1"/>
              <a:t>반영하지</a:t>
            </a:r>
            <a:r>
              <a:rPr dirty="0"/>
              <a:t> </a:t>
            </a:r>
            <a:r>
              <a:rPr dirty="0" err="1"/>
              <a:t>못합니다</a:t>
            </a:r>
            <a:r>
              <a:rPr dirty="0"/>
              <a:t>. </a:t>
            </a:r>
            <a:r>
              <a:rPr dirty="0" err="1"/>
              <a:t>그래서</a:t>
            </a:r>
            <a:r>
              <a:rPr dirty="0"/>
              <a:t> </a:t>
            </a:r>
            <a:r>
              <a:rPr lang="en-US" dirty="0" err="1"/>
              <a:t>CellPrecision</a:t>
            </a:r>
            <a:r>
              <a:rPr dirty="0" err="1"/>
              <a:t>@k를</a:t>
            </a:r>
            <a:r>
              <a:rPr dirty="0"/>
              <a:t> </a:t>
            </a:r>
            <a:r>
              <a:rPr dirty="0" err="1"/>
              <a:t>따로</a:t>
            </a:r>
            <a:r>
              <a:rPr dirty="0"/>
              <a:t> </a:t>
            </a:r>
            <a:r>
              <a:rPr dirty="0" err="1"/>
              <a:t>봅니다</a:t>
            </a:r>
            <a:r>
              <a:rPr dirty="0"/>
              <a:t>. </a:t>
            </a:r>
            <a:r>
              <a:rPr dirty="0" err="1"/>
              <a:t>상위</a:t>
            </a:r>
            <a:r>
              <a:rPr dirty="0"/>
              <a:t> </a:t>
            </a:r>
            <a:r>
              <a:rPr dirty="0" err="1"/>
              <a:t>k개</a:t>
            </a:r>
            <a:r>
              <a:rPr dirty="0"/>
              <a:t> </a:t>
            </a:r>
            <a:r>
              <a:rPr dirty="0" err="1"/>
              <a:t>단위에</a:t>
            </a:r>
            <a:r>
              <a:rPr dirty="0"/>
              <a:t> </a:t>
            </a:r>
            <a:r>
              <a:rPr dirty="0" err="1"/>
              <a:t>들어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셀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가운데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셀의</a:t>
            </a:r>
            <a:r>
              <a:rPr dirty="0"/>
              <a:t> </a:t>
            </a:r>
            <a:r>
              <a:rPr dirty="0" err="1"/>
              <a:t>비율로</a:t>
            </a:r>
            <a:r>
              <a:rPr dirty="0"/>
              <a:t>, </a:t>
            </a:r>
            <a:r>
              <a:rPr dirty="0" err="1"/>
              <a:t>LLM에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전달된</a:t>
            </a:r>
            <a:r>
              <a:rPr dirty="0"/>
              <a:t> 셀 중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셀이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되는지를</a:t>
            </a:r>
            <a:r>
              <a:rPr dirty="0"/>
              <a:t> </a:t>
            </a:r>
            <a:r>
              <a:rPr dirty="0" err="1"/>
              <a:t>나타냅니다</a:t>
            </a:r>
            <a:r>
              <a:rPr dirty="0"/>
              <a:t>.</a:t>
            </a:r>
          </a:p>
          <a:p>
            <a:r>
              <a:rPr dirty="0" err="1"/>
              <a:t>답변</a:t>
            </a:r>
            <a:r>
              <a:rPr dirty="0"/>
              <a:t> </a:t>
            </a:r>
            <a:r>
              <a:rPr dirty="0" err="1"/>
              <a:t>정확도는</a:t>
            </a:r>
            <a:r>
              <a:rPr dirty="0"/>
              <a:t> </a:t>
            </a:r>
            <a:r>
              <a:rPr dirty="0" err="1"/>
              <a:t>LLM의</a:t>
            </a:r>
            <a:r>
              <a:rPr dirty="0"/>
              <a:t> </a:t>
            </a:r>
            <a:r>
              <a:rPr dirty="0" err="1"/>
              <a:t>답이</a:t>
            </a:r>
            <a:r>
              <a:rPr dirty="0"/>
              <a:t> </a:t>
            </a:r>
            <a:r>
              <a:rPr dirty="0" err="1"/>
              <a:t>정답과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문항의</a:t>
            </a:r>
            <a:r>
              <a:rPr dirty="0"/>
              <a:t> </a:t>
            </a:r>
            <a:r>
              <a:rPr dirty="0" err="1"/>
              <a:t>비율입니다</a:t>
            </a:r>
            <a:r>
              <a:rPr dirty="0"/>
              <a:t>. 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채점</a:t>
            </a:r>
            <a:r>
              <a:rPr dirty="0"/>
              <a:t> </a:t>
            </a:r>
            <a:r>
              <a:rPr dirty="0" err="1"/>
              <a:t>규칙을</a:t>
            </a:r>
            <a:r>
              <a:rPr dirty="0"/>
              <a:t> </a:t>
            </a:r>
            <a:r>
              <a:rPr dirty="0" err="1"/>
              <a:t>따르되</a:t>
            </a:r>
            <a:r>
              <a:rPr dirty="0"/>
              <a:t>, </a:t>
            </a:r>
            <a:r>
              <a:rPr dirty="0" err="1"/>
              <a:t>달러</a:t>
            </a:r>
            <a:r>
              <a:rPr dirty="0"/>
              <a:t> </a:t>
            </a:r>
            <a:r>
              <a:rPr dirty="0" err="1"/>
              <a:t>기호나</a:t>
            </a:r>
            <a:r>
              <a:rPr dirty="0"/>
              <a:t> </a:t>
            </a:r>
            <a:r>
              <a:rPr dirty="0" err="1"/>
              <a:t>날짜</a:t>
            </a:r>
            <a:r>
              <a:rPr dirty="0"/>
              <a:t> </a:t>
            </a:r>
            <a:r>
              <a:rPr dirty="0" err="1"/>
              <a:t>표기처럼</a:t>
            </a:r>
            <a:r>
              <a:rPr dirty="0"/>
              <a:t> </a:t>
            </a:r>
            <a:r>
              <a:rPr dirty="0" err="1"/>
              <a:t>값은</a:t>
            </a:r>
            <a:r>
              <a:rPr dirty="0"/>
              <a:t> </a:t>
            </a:r>
            <a:r>
              <a:rPr dirty="0" err="1"/>
              <a:t>같고</a:t>
            </a:r>
            <a:r>
              <a:rPr dirty="0"/>
              <a:t> </a:t>
            </a:r>
            <a:r>
              <a:rPr dirty="0" err="1"/>
              <a:t>표기만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답은</a:t>
            </a:r>
            <a:r>
              <a:rPr dirty="0"/>
              <a:t> </a:t>
            </a:r>
            <a:r>
              <a:rPr dirty="0" err="1"/>
              <a:t>정답으로</a:t>
            </a:r>
            <a:r>
              <a:rPr dirty="0"/>
              <a:t> </a:t>
            </a:r>
            <a:r>
              <a:rPr dirty="0" err="1"/>
              <a:t>인정했습니다</a:t>
            </a:r>
            <a:r>
              <a:rPr dirty="0"/>
              <a:t>.</a:t>
            </a:r>
          </a:p>
          <a:p>
            <a:r>
              <a:rPr dirty="0"/>
              <a:t>두 </a:t>
            </a:r>
            <a:r>
              <a:rPr dirty="0" err="1"/>
              <a:t>방법의</a:t>
            </a:r>
            <a:r>
              <a:rPr dirty="0"/>
              <a:t> </a:t>
            </a:r>
            <a:r>
              <a:rPr dirty="0" err="1"/>
              <a:t>차이는</a:t>
            </a:r>
            <a:r>
              <a:rPr dirty="0"/>
              <a:t> McNemar </a:t>
            </a:r>
            <a:r>
              <a:rPr dirty="0" err="1"/>
              <a:t>검정으로</a:t>
            </a:r>
            <a:r>
              <a:rPr dirty="0"/>
              <a:t> </a:t>
            </a:r>
            <a:r>
              <a:rPr dirty="0" err="1"/>
              <a:t>판정했습니다</a:t>
            </a:r>
            <a:r>
              <a:rPr dirty="0"/>
              <a:t>.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문항에서</a:t>
            </a:r>
            <a:r>
              <a:rPr dirty="0"/>
              <a:t> 한 </a:t>
            </a:r>
            <a:r>
              <a:rPr dirty="0" err="1"/>
              <a:t>방법만</a:t>
            </a:r>
            <a:r>
              <a:rPr dirty="0"/>
              <a:t> </a:t>
            </a:r>
            <a:r>
              <a:rPr dirty="0" err="1"/>
              <a:t>맞힌</a:t>
            </a:r>
            <a:r>
              <a:rPr dirty="0"/>
              <a:t> </a:t>
            </a:r>
            <a:r>
              <a:rPr dirty="0" err="1"/>
              <a:t>문항</a:t>
            </a:r>
            <a:r>
              <a:rPr dirty="0"/>
              <a:t> </a:t>
            </a:r>
            <a:r>
              <a:rPr dirty="0" err="1"/>
              <a:t>수와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방법만</a:t>
            </a:r>
            <a:r>
              <a:rPr dirty="0"/>
              <a:t> </a:t>
            </a:r>
            <a:r>
              <a:rPr dirty="0" err="1"/>
              <a:t>맞힌</a:t>
            </a:r>
            <a:r>
              <a:rPr dirty="0"/>
              <a:t> </a:t>
            </a:r>
            <a:r>
              <a:rPr dirty="0" err="1"/>
              <a:t>문항</a:t>
            </a:r>
            <a:r>
              <a:rPr dirty="0"/>
              <a:t> </a:t>
            </a:r>
            <a:r>
              <a:rPr dirty="0" err="1"/>
              <a:t>수의</a:t>
            </a:r>
            <a:r>
              <a:rPr dirty="0"/>
              <a:t>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우연으로</a:t>
            </a:r>
            <a:r>
              <a:rPr dirty="0"/>
              <a:t> </a:t>
            </a:r>
            <a:r>
              <a:rPr dirty="0" err="1"/>
              <a:t>생길</a:t>
            </a:r>
            <a:r>
              <a:rPr dirty="0"/>
              <a:t> 수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정도를</a:t>
            </a:r>
            <a:r>
              <a:rPr dirty="0"/>
              <a:t> </a:t>
            </a:r>
            <a:r>
              <a:rPr dirty="0" err="1"/>
              <a:t>넘는지</a:t>
            </a:r>
            <a:r>
              <a:rPr dirty="0"/>
              <a:t> </a:t>
            </a:r>
            <a:r>
              <a:rPr dirty="0" err="1"/>
              <a:t>보는</a:t>
            </a:r>
            <a:r>
              <a:rPr dirty="0"/>
              <a:t> </a:t>
            </a:r>
            <a:r>
              <a:rPr dirty="0" err="1"/>
              <a:t>검정입니다</a:t>
            </a:r>
            <a:r>
              <a:rPr dirty="0"/>
              <a:t>.</a:t>
            </a:r>
          </a:p>
          <a:p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대상이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개이면</a:t>
            </a:r>
            <a:r>
              <a:rPr dirty="0"/>
              <a:t> </a:t>
            </a:r>
            <a:r>
              <a:rPr dirty="0" err="1"/>
              <a:t>우연히</a:t>
            </a:r>
            <a:r>
              <a:rPr dirty="0"/>
              <a:t> </a:t>
            </a:r>
            <a:r>
              <a:rPr dirty="0" err="1"/>
              <a:t>유의하게</a:t>
            </a:r>
            <a:r>
              <a:rPr dirty="0"/>
              <a:t> </a:t>
            </a:r>
            <a:r>
              <a:rPr dirty="0" err="1"/>
              <a:t>나올</a:t>
            </a:r>
            <a:r>
              <a:rPr dirty="0"/>
              <a:t> </a:t>
            </a:r>
            <a:r>
              <a:rPr dirty="0" err="1"/>
              <a:t>가능성이</a:t>
            </a:r>
            <a:r>
              <a:rPr dirty="0"/>
              <a:t> </a:t>
            </a:r>
            <a:r>
              <a:rPr dirty="0" err="1"/>
              <a:t>커지므로</a:t>
            </a:r>
            <a:r>
              <a:rPr dirty="0"/>
              <a:t>, Holm </a:t>
            </a:r>
            <a:r>
              <a:rPr dirty="0" err="1"/>
              <a:t>보정을</a:t>
            </a:r>
            <a:r>
              <a:rPr dirty="0"/>
              <a:t> </a:t>
            </a:r>
            <a:r>
              <a:rPr dirty="0" err="1"/>
              <a:t>적용했습니다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2106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[약 1:35 · </a:t>
            </a:r>
            <a:r>
              <a:rPr dirty="0" err="1"/>
              <a:t>누적</a:t>
            </a:r>
            <a:r>
              <a:rPr dirty="0"/>
              <a:t> 17:20]</a:t>
            </a:r>
          </a:p>
          <a:p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결과입니다</a:t>
            </a:r>
            <a:r>
              <a:rPr dirty="0"/>
              <a:t>.</a:t>
            </a:r>
          </a:p>
          <a:p>
            <a:r>
              <a:rPr dirty="0" err="1"/>
              <a:t>제안</a:t>
            </a:r>
            <a:r>
              <a:rPr dirty="0"/>
              <a:t> </a:t>
            </a:r>
            <a:r>
              <a:rPr dirty="0" err="1"/>
              <a:t>방법은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 20개 </a:t>
            </a:r>
            <a:r>
              <a:rPr dirty="0" err="1"/>
              <a:t>셀로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셀의</a:t>
            </a:r>
            <a:r>
              <a:rPr dirty="0"/>
              <a:t> 93.9%를 </a:t>
            </a:r>
            <a:r>
              <a:rPr dirty="0" err="1"/>
              <a:t>찾았습니다</a:t>
            </a:r>
            <a:r>
              <a:rPr dirty="0"/>
              <a:t>. </a:t>
            </a:r>
            <a:r>
              <a:rPr dirty="0" err="1"/>
              <a:t>RAPTOR의</a:t>
            </a:r>
            <a:r>
              <a:rPr dirty="0"/>
              <a:t> 81.7%, </a:t>
            </a:r>
            <a:r>
              <a:rPr dirty="0" err="1"/>
              <a:t>TableRAG</a:t>
            </a:r>
            <a:r>
              <a:rPr dirty="0"/>
              <a:t>(Chen)의 17.7%보다 </a:t>
            </a:r>
            <a:r>
              <a:rPr dirty="0" err="1"/>
              <a:t>높습니다</a:t>
            </a:r>
            <a:r>
              <a:rPr dirty="0"/>
              <a:t>.</a:t>
            </a:r>
          </a:p>
          <a:p>
            <a:r>
              <a:rPr dirty="0" err="1"/>
              <a:t>RAPTOR는</a:t>
            </a:r>
            <a:r>
              <a:rPr dirty="0"/>
              <a:t> </a:t>
            </a:r>
            <a:r>
              <a:rPr dirty="0" err="1"/>
              <a:t>원래</a:t>
            </a:r>
            <a:r>
              <a:rPr dirty="0"/>
              <a:t> </a:t>
            </a:r>
            <a:r>
              <a:rPr dirty="0" err="1"/>
              <a:t>코드가</a:t>
            </a:r>
            <a:r>
              <a:rPr dirty="0"/>
              <a:t> </a:t>
            </a:r>
            <a:r>
              <a:rPr dirty="0" err="1"/>
              <a:t>마침표와</a:t>
            </a:r>
            <a:r>
              <a:rPr dirty="0"/>
              <a:t> </a:t>
            </a:r>
            <a:r>
              <a:rPr dirty="0" err="1"/>
              <a:t>쉼표에서</a:t>
            </a:r>
            <a:r>
              <a:rPr dirty="0"/>
              <a:t> </a:t>
            </a:r>
            <a:r>
              <a:rPr dirty="0" err="1"/>
              <a:t>글을</a:t>
            </a:r>
            <a:r>
              <a:rPr dirty="0"/>
              <a:t> </a:t>
            </a:r>
            <a:r>
              <a:rPr dirty="0" err="1"/>
              <a:t>자르기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 12.5나 1,234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숫자가</a:t>
            </a:r>
            <a:r>
              <a:rPr dirty="0"/>
              <a:t> </a:t>
            </a:r>
            <a:r>
              <a:rPr dirty="0" err="1"/>
              <a:t>중간에</a:t>
            </a:r>
            <a:r>
              <a:rPr dirty="0"/>
              <a:t> </a:t>
            </a:r>
            <a:r>
              <a:rPr dirty="0" err="1"/>
              <a:t>잘립니다</a:t>
            </a:r>
            <a:r>
              <a:rPr dirty="0"/>
              <a:t>. </a:t>
            </a:r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셀이</a:t>
            </a:r>
            <a:r>
              <a:rPr dirty="0"/>
              <a:t>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청크</a:t>
            </a:r>
            <a:r>
              <a:rPr dirty="0"/>
              <a:t> </a:t>
            </a:r>
            <a:r>
              <a:rPr dirty="0" err="1"/>
              <a:t>하나에</a:t>
            </a:r>
            <a:r>
              <a:rPr dirty="0"/>
              <a:t> </a:t>
            </a:r>
            <a:r>
              <a:rPr dirty="0" err="1"/>
              <a:t>온전히</a:t>
            </a:r>
            <a:r>
              <a:rPr dirty="0"/>
              <a:t> </a:t>
            </a:r>
            <a:r>
              <a:rPr dirty="0" err="1"/>
              <a:t>들어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비율이</a:t>
            </a:r>
            <a:r>
              <a:rPr dirty="0"/>
              <a:t> 82.2%에 </a:t>
            </a:r>
            <a:r>
              <a:rPr dirty="0" err="1"/>
              <a:t>그치고</a:t>
            </a:r>
            <a:r>
              <a:rPr dirty="0"/>
              <a:t>, 81.7%는 이 </a:t>
            </a:r>
            <a:r>
              <a:rPr dirty="0" err="1"/>
              <a:t>한계에</a:t>
            </a:r>
            <a:r>
              <a:rPr dirty="0"/>
              <a:t> </a:t>
            </a:r>
            <a:r>
              <a:rPr dirty="0" err="1"/>
              <a:t>가까운</a:t>
            </a:r>
            <a:r>
              <a:rPr dirty="0"/>
              <a:t> </a:t>
            </a:r>
            <a:r>
              <a:rPr dirty="0" err="1"/>
              <a:t>값입니다</a:t>
            </a:r>
            <a:r>
              <a:rPr dirty="0"/>
              <a:t>.</a:t>
            </a:r>
          </a:p>
          <a:p>
            <a:r>
              <a:rPr dirty="0" err="1"/>
              <a:t>TableRAG</a:t>
            </a:r>
            <a:r>
              <a:rPr dirty="0"/>
              <a:t>(Chen)은 </a:t>
            </a:r>
            <a:r>
              <a:rPr dirty="0" err="1"/>
              <a:t>숫자</a:t>
            </a:r>
            <a:r>
              <a:rPr dirty="0"/>
              <a:t> </a:t>
            </a:r>
            <a:r>
              <a:rPr dirty="0" err="1"/>
              <a:t>열을</a:t>
            </a:r>
            <a:r>
              <a:rPr dirty="0"/>
              <a:t> 값 </a:t>
            </a:r>
            <a:r>
              <a:rPr dirty="0" err="1"/>
              <a:t>하나하나가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최솟값과</a:t>
            </a:r>
            <a:r>
              <a:rPr dirty="0"/>
              <a:t> </a:t>
            </a:r>
            <a:r>
              <a:rPr dirty="0" err="1"/>
              <a:t>최댓값으로만</a:t>
            </a:r>
            <a:r>
              <a:rPr dirty="0"/>
              <a:t> </a:t>
            </a:r>
            <a:r>
              <a:rPr dirty="0" err="1"/>
              <a:t>색인하기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, </a:t>
            </a:r>
            <a:r>
              <a:rPr dirty="0" err="1"/>
              <a:t>대부분이</a:t>
            </a:r>
            <a:r>
              <a:rPr dirty="0"/>
              <a:t> </a:t>
            </a:r>
            <a:r>
              <a:rPr dirty="0" err="1"/>
              <a:t>숫자인</a:t>
            </a:r>
            <a:r>
              <a:rPr dirty="0"/>
              <a:t> </a:t>
            </a:r>
            <a:r>
              <a:rPr dirty="0" err="1"/>
              <a:t>재무</a:t>
            </a:r>
            <a:r>
              <a:rPr dirty="0"/>
              <a:t> </a:t>
            </a:r>
            <a:r>
              <a:rPr dirty="0" err="1"/>
              <a:t>표에서는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셀 </a:t>
            </a:r>
            <a:r>
              <a:rPr dirty="0" err="1"/>
              <a:t>자체를</a:t>
            </a:r>
            <a:r>
              <a:rPr dirty="0"/>
              <a:t> </a:t>
            </a:r>
            <a:r>
              <a:rPr dirty="0" err="1"/>
              <a:t>거의</a:t>
            </a:r>
            <a:r>
              <a:rPr dirty="0"/>
              <a:t> </a:t>
            </a:r>
            <a:r>
              <a:rPr dirty="0" err="1"/>
              <a:t>찾지</a:t>
            </a:r>
            <a:r>
              <a:rPr dirty="0"/>
              <a:t> </a:t>
            </a:r>
            <a:r>
              <a:rPr dirty="0" err="1"/>
              <a:t>못했습니다</a:t>
            </a:r>
            <a:r>
              <a:rPr dirty="0"/>
              <a:t>.</a:t>
            </a:r>
          </a:p>
          <a:p>
            <a:r>
              <a:rPr dirty="0" err="1"/>
              <a:t>반면</a:t>
            </a:r>
            <a:r>
              <a:rPr dirty="0"/>
              <a:t> </a:t>
            </a:r>
            <a:r>
              <a:rPr dirty="0" err="1"/>
              <a:t>LangChain</a:t>
            </a:r>
            <a:r>
              <a:rPr dirty="0"/>
              <a:t> </a:t>
            </a:r>
            <a:r>
              <a:rPr dirty="0" err="1"/>
              <a:t>청크와</a:t>
            </a:r>
            <a:r>
              <a:rPr dirty="0"/>
              <a:t> </a:t>
            </a:r>
            <a:r>
              <a:rPr dirty="0" err="1"/>
              <a:t>TableRAG</a:t>
            </a:r>
            <a:r>
              <a:rPr dirty="0"/>
              <a:t>(Yu)는 </a:t>
            </a:r>
            <a:r>
              <a:rPr dirty="0" err="1"/>
              <a:t>상위</a:t>
            </a:r>
            <a:r>
              <a:rPr dirty="0"/>
              <a:t> 1개에서 </a:t>
            </a:r>
            <a:r>
              <a:rPr dirty="0" err="1"/>
              <a:t>이미</a:t>
            </a:r>
            <a:r>
              <a:rPr dirty="0"/>
              <a:t> 76.8%와 82.8%로, </a:t>
            </a:r>
            <a:r>
              <a:rPr dirty="0" err="1"/>
              <a:t>제안</a:t>
            </a:r>
            <a:r>
              <a:rPr dirty="0"/>
              <a:t> </a:t>
            </a:r>
            <a:r>
              <a:rPr dirty="0" err="1"/>
              <a:t>방법의</a:t>
            </a:r>
            <a:r>
              <a:rPr dirty="0"/>
              <a:t> 32.3%보다 </a:t>
            </a:r>
            <a:r>
              <a:rPr dirty="0" err="1"/>
              <a:t>높고</a:t>
            </a:r>
            <a:r>
              <a:rPr dirty="0"/>
              <a:t>, </a:t>
            </a:r>
            <a:r>
              <a:rPr dirty="0" err="1"/>
              <a:t>상위</a:t>
            </a:r>
            <a:r>
              <a:rPr dirty="0"/>
              <a:t> 5개에서는 100%입니다.</a:t>
            </a:r>
          </a:p>
          <a:p>
            <a:r>
              <a:rPr dirty="0" err="1"/>
              <a:t>이것은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단위가</a:t>
            </a:r>
            <a:r>
              <a:rPr dirty="0"/>
              <a:t> </a:t>
            </a:r>
            <a:r>
              <a:rPr dirty="0" err="1"/>
              <a:t>크기</a:t>
            </a:r>
            <a:r>
              <a:rPr dirty="0"/>
              <a:t> </a:t>
            </a:r>
            <a:r>
              <a:rPr dirty="0" err="1"/>
              <a:t>때문입니다</a:t>
            </a:r>
            <a:r>
              <a:rPr dirty="0"/>
              <a:t>. </a:t>
            </a:r>
            <a:r>
              <a:rPr dirty="0" err="1"/>
              <a:t>청크</a:t>
            </a:r>
            <a:r>
              <a:rPr dirty="0"/>
              <a:t> </a:t>
            </a:r>
            <a:r>
              <a:rPr dirty="0" err="1"/>
              <a:t>하나에</a:t>
            </a:r>
            <a:r>
              <a:rPr dirty="0"/>
              <a:t> 30개가 </a:t>
            </a:r>
            <a:r>
              <a:rPr dirty="0" err="1"/>
              <a:t>넘는</a:t>
            </a:r>
            <a:r>
              <a:rPr dirty="0"/>
              <a:t> </a:t>
            </a:r>
            <a:r>
              <a:rPr dirty="0" err="1"/>
              <a:t>셀이</a:t>
            </a:r>
            <a:r>
              <a:rPr dirty="0"/>
              <a:t> </a:t>
            </a:r>
            <a:r>
              <a:rPr dirty="0" err="1"/>
              <a:t>들어</a:t>
            </a:r>
            <a:r>
              <a:rPr dirty="0"/>
              <a:t> </a:t>
            </a:r>
            <a:r>
              <a:rPr dirty="0" err="1"/>
              <a:t>있고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하나가</a:t>
            </a:r>
            <a:r>
              <a:rPr dirty="0"/>
              <a:t> 4~5개의 </a:t>
            </a:r>
            <a:r>
              <a:rPr dirty="0" err="1"/>
              <a:t>청크로</a:t>
            </a:r>
            <a:r>
              <a:rPr dirty="0"/>
              <a:t> </a:t>
            </a:r>
            <a:r>
              <a:rPr dirty="0" err="1"/>
              <a:t>나뉘므로</a:t>
            </a:r>
            <a:r>
              <a:rPr dirty="0"/>
              <a:t>, </a:t>
            </a:r>
            <a:r>
              <a:rPr dirty="0" err="1"/>
              <a:t>상위</a:t>
            </a:r>
            <a:r>
              <a:rPr dirty="0"/>
              <a:t> 5개 </a:t>
            </a:r>
            <a:r>
              <a:rPr dirty="0" err="1"/>
              <a:t>청크는</a:t>
            </a:r>
            <a:r>
              <a:rPr dirty="0"/>
              <a:t> </a:t>
            </a:r>
            <a:r>
              <a:rPr dirty="0" err="1"/>
              <a:t>사실상</a:t>
            </a:r>
            <a:r>
              <a:rPr dirty="0"/>
              <a:t> </a:t>
            </a:r>
            <a:r>
              <a:rPr dirty="0" err="1"/>
              <a:t>문서의</a:t>
            </a:r>
            <a:r>
              <a:rPr dirty="0"/>
              <a:t> 표 </a:t>
            </a:r>
            <a:r>
              <a:rPr dirty="0" err="1"/>
              <a:t>전체입니다</a:t>
            </a:r>
            <a:r>
              <a:rPr dirty="0"/>
              <a:t>.</a:t>
            </a:r>
          </a:p>
          <a:p>
            <a:r>
              <a:rPr dirty="0" err="1"/>
              <a:t>반대로</a:t>
            </a:r>
            <a:r>
              <a:rPr dirty="0"/>
              <a:t> </a:t>
            </a:r>
            <a:r>
              <a:rPr dirty="0" err="1"/>
              <a:t>제안</a:t>
            </a:r>
            <a:r>
              <a:rPr dirty="0"/>
              <a:t> </a:t>
            </a:r>
            <a:r>
              <a:rPr dirty="0" err="1"/>
              <a:t>방법은</a:t>
            </a:r>
            <a:r>
              <a:rPr dirty="0"/>
              <a:t> </a:t>
            </a:r>
            <a:r>
              <a:rPr dirty="0" err="1"/>
              <a:t>단위가</a:t>
            </a:r>
            <a:r>
              <a:rPr dirty="0"/>
              <a:t> 셀 </a:t>
            </a:r>
            <a:r>
              <a:rPr dirty="0" err="1"/>
              <a:t>하나라서</a:t>
            </a:r>
            <a:r>
              <a:rPr dirty="0"/>
              <a:t>,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셀이</a:t>
            </a:r>
            <a:r>
              <a:rPr dirty="0"/>
              <a:t> 2개 </a:t>
            </a:r>
            <a:r>
              <a:rPr dirty="0" err="1"/>
              <a:t>이상인</a:t>
            </a:r>
            <a:r>
              <a:rPr dirty="0"/>
              <a:t> </a:t>
            </a:r>
            <a:r>
              <a:rPr dirty="0" err="1"/>
              <a:t>문항에서는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 1개로 100%가 될 수 </a:t>
            </a:r>
            <a:r>
              <a:rPr dirty="0" err="1"/>
              <a:t>없습니다</a:t>
            </a:r>
            <a:r>
              <a:rPr dirty="0"/>
              <a:t>. </a:t>
            </a:r>
            <a:r>
              <a:rPr lang="en-US" dirty="0"/>
              <a:t>Recall</a:t>
            </a:r>
            <a:r>
              <a:rPr dirty="0"/>
              <a:t>@1이 </a:t>
            </a:r>
            <a:r>
              <a:rPr dirty="0" err="1"/>
              <a:t>가질</a:t>
            </a:r>
            <a:r>
              <a:rPr dirty="0"/>
              <a:t> 수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최대값이</a:t>
            </a:r>
            <a:r>
              <a:rPr dirty="0"/>
              <a:t> 58.6%입니다.</a:t>
            </a:r>
          </a:p>
          <a:p>
            <a:r>
              <a:rPr dirty="0"/>
              <a:t>.</a:t>
            </a:r>
          </a:p>
          <a:p>
            <a:r>
              <a:rPr dirty="0" err="1"/>
              <a:t>따라서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k끼리만</a:t>
            </a:r>
            <a:r>
              <a:rPr dirty="0"/>
              <a:t> </a:t>
            </a:r>
            <a:r>
              <a:rPr dirty="0" err="1"/>
              <a:t>비교해서는</a:t>
            </a:r>
            <a:r>
              <a:rPr dirty="0"/>
              <a:t> </a:t>
            </a:r>
            <a:r>
              <a:rPr dirty="0" err="1"/>
              <a:t>판단하기</a:t>
            </a:r>
            <a:r>
              <a:rPr dirty="0"/>
              <a:t> </a:t>
            </a:r>
            <a:r>
              <a:rPr dirty="0" err="1"/>
              <a:t>어렵고</a:t>
            </a:r>
            <a:r>
              <a:rPr dirty="0"/>
              <a:t>, </a:t>
            </a:r>
            <a:r>
              <a:rPr dirty="0" err="1"/>
              <a:t>실제로</a:t>
            </a:r>
            <a:r>
              <a:rPr dirty="0"/>
              <a:t> 몇 </a:t>
            </a:r>
            <a:r>
              <a:rPr dirty="0" err="1"/>
              <a:t>개의</a:t>
            </a:r>
            <a:r>
              <a:rPr dirty="0"/>
              <a:t> </a:t>
            </a:r>
            <a:r>
              <a:rPr dirty="0" err="1"/>
              <a:t>셀이</a:t>
            </a:r>
            <a:r>
              <a:rPr dirty="0"/>
              <a:t> </a:t>
            </a:r>
            <a:r>
              <a:rPr dirty="0" err="1"/>
              <a:t>전달되었는지를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슬라이드에서</a:t>
            </a:r>
            <a:r>
              <a:rPr dirty="0"/>
              <a:t> </a:t>
            </a:r>
            <a:r>
              <a:rPr dirty="0" err="1"/>
              <a:t>보겠습니다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0:40 · 누적 17:55]</a:t>
            </a:r>
          </a:p>
          <a:p>
            <a:r>
              <a:t>전달된 셀 가운데 정답 셀의 비율인 셀 정밀도입니다.</a:t>
            </a:r>
          </a:p>
          <a:p>
            <a:r>
              <a:t>제안 방법은 20개를 전달했을 때 11.0%입니다. 정답 셀이 문항당 평균 2.37개이므로 20개를 전달할 때 나올 수 있는 최대값은 11.9%이고, 제안 방법은 이 값에 가깝습니다.</a:t>
            </a:r>
          </a:p>
          <a:p>
            <a:r>
              <a:t>반면 LangChain 청크는 1.9에서 2.0% 수준입니다. 상위 4개 청크가 문항당 126.8개의 셀을 전달하고, 그 가운데 정답 셀은 2.0%입니다.</a:t>
            </a:r>
          </a:p>
          <a:p>
            <a:r>
              <a:t>즉 제안 방법은 LangChain 청크가 전달하는 셀 수의 6분의 1보다 적은 20개로, 정답 셀의 93.9%를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[약 1:35 · </a:t>
            </a:r>
            <a:r>
              <a:rPr dirty="0" err="1"/>
              <a:t>누적</a:t>
            </a:r>
            <a:r>
              <a:rPr dirty="0"/>
              <a:t> 19:35]</a:t>
            </a:r>
          </a:p>
          <a:p>
            <a:r>
              <a:rPr dirty="0" err="1"/>
              <a:t>이제</a:t>
            </a:r>
            <a:r>
              <a:rPr dirty="0"/>
              <a:t> </a:t>
            </a:r>
            <a:r>
              <a:rPr dirty="0" err="1"/>
              <a:t>LLM이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답을</a:t>
            </a:r>
            <a:r>
              <a:rPr dirty="0"/>
              <a:t> </a:t>
            </a:r>
            <a:r>
              <a:rPr dirty="0" err="1"/>
              <a:t>맞혔는지</a:t>
            </a:r>
            <a:r>
              <a:rPr dirty="0"/>
              <a:t> </a:t>
            </a:r>
            <a:r>
              <a:rPr dirty="0" err="1"/>
              <a:t>보겠습니다</a:t>
            </a:r>
            <a:r>
              <a:rPr dirty="0"/>
              <a:t>.</a:t>
            </a:r>
          </a:p>
          <a:p>
            <a:r>
              <a:rPr dirty="0"/>
              <a:t>200문항에서 </a:t>
            </a:r>
            <a:r>
              <a:rPr dirty="0" err="1"/>
              <a:t>제안</a:t>
            </a:r>
            <a:r>
              <a:rPr dirty="0"/>
              <a:t> </a:t>
            </a:r>
            <a:r>
              <a:rPr dirty="0" err="1"/>
              <a:t>방법은</a:t>
            </a:r>
            <a:r>
              <a:rPr dirty="0"/>
              <a:t> 115문항, 57.5%를 </a:t>
            </a:r>
            <a:r>
              <a:rPr dirty="0" err="1"/>
              <a:t>맞혔습니다</a:t>
            </a:r>
            <a:r>
              <a:rPr dirty="0"/>
              <a:t>.</a:t>
            </a:r>
          </a:p>
          <a:p>
            <a:r>
              <a:rPr dirty="0" err="1"/>
              <a:t>LangChain</a:t>
            </a:r>
            <a:r>
              <a:rPr dirty="0"/>
              <a:t> </a:t>
            </a:r>
            <a:r>
              <a:rPr dirty="0" err="1"/>
              <a:t>청크</a:t>
            </a:r>
            <a:r>
              <a:rPr dirty="0"/>
              <a:t> 39.5%, RAPTOR 38.5%, </a:t>
            </a:r>
            <a:r>
              <a:rPr dirty="0" err="1"/>
              <a:t>TableRAG</a:t>
            </a:r>
            <a:r>
              <a:rPr dirty="0"/>
              <a:t>(Chen) 13.5%보다 </a:t>
            </a:r>
            <a:r>
              <a:rPr dirty="0" err="1"/>
              <a:t>높고</a:t>
            </a:r>
            <a:r>
              <a:rPr dirty="0"/>
              <a:t>, 이 세 </a:t>
            </a:r>
            <a:r>
              <a:rPr dirty="0" err="1"/>
              <a:t>방법과의</a:t>
            </a:r>
            <a:r>
              <a:rPr dirty="0"/>
              <a:t> </a:t>
            </a:r>
            <a:r>
              <a:rPr dirty="0" err="1"/>
              <a:t>차이는</a:t>
            </a:r>
            <a:r>
              <a:rPr dirty="0"/>
              <a:t> Holm </a:t>
            </a:r>
            <a:r>
              <a:rPr dirty="0" err="1"/>
              <a:t>보정</a:t>
            </a:r>
            <a:r>
              <a:rPr dirty="0"/>
              <a:t> </a:t>
            </a:r>
            <a:r>
              <a:rPr dirty="0" err="1"/>
              <a:t>후에도</a:t>
            </a:r>
            <a:r>
              <a:rPr dirty="0"/>
              <a:t> </a:t>
            </a:r>
            <a:r>
              <a:rPr dirty="0" err="1"/>
              <a:t>유의했습니다</a:t>
            </a:r>
            <a:r>
              <a:rPr dirty="0"/>
              <a:t>.</a:t>
            </a:r>
          </a:p>
          <a:p>
            <a:r>
              <a:rPr dirty="0" err="1"/>
              <a:t>TableRAG</a:t>
            </a:r>
            <a:r>
              <a:rPr dirty="0"/>
              <a:t>(Yu)는 53.5%로, </a:t>
            </a:r>
            <a:r>
              <a:rPr dirty="0" err="1"/>
              <a:t>제안</a:t>
            </a:r>
            <a:r>
              <a:rPr dirty="0"/>
              <a:t> </a:t>
            </a:r>
            <a:r>
              <a:rPr dirty="0" err="1"/>
              <a:t>방법이</a:t>
            </a:r>
            <a:r>
              <a:rPr dirty="0"/>
              <a:t> 4.0%p </a:t>
            </a:r>
            <a:r>
              <a:rPr dirty="0" err="1"/>
              <a:t>높았습니다</a:t>
            </a:r>
            <a:r>
              <a:rPr dirty="0"/>
              <a:t>.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 표 </a:t>
            </a:r>
            <a:r>
              <a:rPr dirty="0" err="1"/>
              <a:t>전체를</a:t>
            </a:r>
            <a:r>
              <a:rPr dirty="0"/>
              <a:t> </a:t>
            </a:r>
            <a:r>
              <a:rPr dirty="0" err="1"/>
              <a:t>넣은</a:t>
            </a:r>
            <a:r>
              <a:rPr dirty="0"/>
              <a:t> </a:t>
            </a:r>
            <a:r>
              <a:rPr dirty="0" err="1"/>
              <a:t>참고</a:t>
            </a:r>
            <a:r>
              <a:rPr dirty="0"/>
              <a:t> </a:t>
            </a:r>
            <a:r>
              <a:rPr dirty="0" err="1"/>
              <a:t>조건은</a:t>
            </a:r>
            <a:r>
              <a:rPr dirty="0"/>
              <a:t> 52.5%였습니다.</a:t>
            </a:r>
          </a:p>
          <a:p>
            <a:r>
              <a:rPr dirty="0" err="1"/>
              <a:t>유형별로</a:t>
            </a:r>
            <a:r>
              <a:rPr dirty="0"/>
              <a:t> </a:t>
            </a:r>
            <a:r>
              <a:rPr dirty="0" err="1"/>
              <a:t>보면</a:t>
            </a:r>
            <a:r>
              <a:rPr dirty="0"/>
              <a:t> </a:t>
            </a:r>
            <a:r>
              <a:rPr dirty="0" err="1"/>
              <a:t>제안</a:t>
            </a:r>
            <a:r>
              <a:rPr dirty="0"/>
              <a:t> </a:t>
            </a:r>
            <a:r>
              <a:rPr dirty="0" err="1"/>
              <a:t>방법은</a:t>
            </a:r>
            <a:r>
              <a:rPr dirty="0"/>
              <a:t> </a:t>
            </a:r>
            <a:r>
              <a:rPr dirty="0" err="1"/>
              <a:t>조회</a:t>
            </a:r>
            <a:r>
              <a:rPr dirty="0"/>
              <a:t> </a:t>
            </a:r>
            <a:r>
              <a:rPr dirty="0" err="1"/>
              <a:t>문항에서</a:t>
            </a:r>
            <a:r>
              <a:rPr dirty="0"/>
              <a:t> 62.9%, </a:t>
            </a:r>
            <a:r>
              <a:rPr dirty="0" err="1"/>
              <a:t>산술</a:t>
            </a:r>
            <a:r>
              <a:rPr dirty="0"/>
              <a:t> </a:t>
            </a:r>
            <a:r>
              <a:rPr dirty="0" err="1"/>
              <a:t>문항에서</a:t>
            </a:r>
            <a:r>
              <a:rPr dirty="0"/>
              <a:t> 50.0%로 두 </a:t>
            </a:r>
            <a:r>
              <a:rPr dirty="0" err="1"/>
              <a:t>유형</a:t>
            </a:r>
            <a:r>
              <a:rPr dirty="0"/>
              <a:t> </a:t>
            </a:r>
            <a:r>
              <a:rPr dirty="0" err="1"/>
              <a:t>모두에서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높았습니다</a:t>
            </a:r>
            <a:r>
              <a:rPr dirty="0"/>
              <a:t>.</a:t>
            </a:r>
          </a:p>
          <a:p>
            <a:r>
              <a:rPr dirty="0"/>
              <a:t>맨 </a:t>
            </a:r>
            <a:r>
              <a:rPr dirty="0" err="1"/>
              <a:t>오른쪽</a:t>
            </a:r>
            <a:r>
              <a:rPr dirty="0"/>
              <a:t> </a:t>
            </a:r>
            <a:r>
              <a:rPr dirty="0" err="1"/>
              <a:t>열은</a:t>
            </a:r>
            <a:r>
              <a:rPr dirty="0"/>
              <a:t> </a:t>
            </a:r>
            <a:r>
              <a:rPr dirty="0" err="1"/>
              <a:t>표기</a:t>
            </a:r>
            <a:r>
              <a:rPr dirty="0"/>
              <a:t> </a:t>
            </a:r>
            <a:r>
              <a:rPr dirty="0" err="1"/>
              <a:t>차이를</a:t>
            </a:r>
            <a:r>
              <a:rPr dirty="0"/>
              <a:t> </a:t>
            </a:r>
            <a:r>
              <a:rPr dirty="0" err="1"/>
              <a:t>허용하지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채점</a:t>
            </a:r>
            <a:r>
              <a:rPr dirty="0"/>
              <a:t> </a:t>
            </a:r>
            <a:r>
              <a:rPr dirty="0" err="1"/>
              <a:t>규칙만</a:t>
            </a:r>
            <a:r>
              <a:rPr dirty="0"/>
              <a:t> </a:t>
            </a:r>
            <a:r>
              <a:rPr dirty="0" err="1"/>
              <a:t>적용한</a:t>
            </a:r>
            <a:r>
              <a:rPr dirty="0"/>
              <a:t> </a:t>
            </a:r>
            <a:r>
              <a:rPr dirty="0" err="1"/>
              <a:t>결과인데</a:t>
            </a:r>
            <a:r>
              <a:rPr dirty="0"/>
              <a:t>, </a:t>
            </a:r>
            <a:r>
              <a:rPr dirty="0" err="1"/>
              <a:t>방법</a:t>
            </a:r>
            <a:r>
              <a:rPr dirty="0"/>
              <a:t> 간 </a:t>
            </a:r>
            <a:r>
              <a:rPr dirty="0" err="1"/>
              <a:t>순위는</a:t>
            </a:r>
            <a:r>
              <a:rPr dirty="0"/>
              <a:t> </a:t>
            </a:r>
            <a:r>
              <a:rPr dirty="0" err="1"/>
              <a:t>같습니다</a:t>
            </a:r>
            <a:r>
              <a:rPr dirty="0"/>
              <a:t>.</a:t>
            </a:r>
          </a:p>
          <a:p>
            <a:r>
              <a:rPr dirty="0" err="1"/>
              <a:t>여기서</a:t>
            </a:r>
            <a:r>
              <a:rPr dirty="0"/>
              <a:t> </a:t>
            </a:r>
            <a:r>
              <a:rPr dirty="0" err="1"/>
              <a:t>LangChain</a:t>
            </a:r>
            <a:r>
              <a:rPr dirty="0"/>
              <a:t> </a:t>
            </a:r>
            <a:r>
              <a:rPr dirty="0" err="1"/>
              <a:t>청크를</a:t>
            </a:r>
            <a:r>
              <a:rPr dirty="0"/>
              <a:t> </a:t>
            </a:r>
            <a:r>
              <a:rPr dirty="0" err="1"/>
              <a:t>보시면</a:t>
            </a:r>
            <a:r>
              <a:rPr dirty="0"/>
              <a:t>,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단계의</a:t>
            </a:r>
            <a:r>
              <a:rPr dirty="0"/>
              <a:t> </a:t>
            </a:r>
            <a:r>
              <a:rPr dirty="0" err="1"/>
              <a:t>재현율은</a:t>
            </a:r>
            <a:r>
              <a:rPr dirty="0"/>
              <a:t> 99.4%로 </a:t>
            </a:r>
            <a:r>
              <a:rPr dirty="0" err="1"/>
              <a:t>제안</a:t>
            </a:r>
            <a:r>
              <a:rPr dirty="0"/>
              <a:t> </a:t>
            </a:r>
            <a:r>
              <a:rPr dirty="0" err="1"/>
              <a:t>방법의</a:t>
            </a:r>
            <a:r>
              <a:rPr dirty="0"/>
              <a:t> 93.9%보다 </a:t>
            </a:r>
            <a:r>
              <a:rPr dirty="0" err="1"/>
              <a:t>높았지만</a:t>
            </a:r>
            <a:r>
              <a:rPr dirty="0"/>
              <a:t> </a:t>
            </a:r>
            <a:r>
              <a:rPr dirty="0" err="1"/>
              <a:t>답변</a:t>
            </a:r>
            <a:r>
              <a:rPr dirty="0"/>
              <a:t> </a:t>
            </a:r>
            <a:r>
              <a:rPr dirty="0" err="1"/>
              <a:t>정확도는</a:t>
            </a:r>
            <a:r>
              <a:rPr dirty="0"/>
              <a:t> 39.5%로 </a:t>
            </a:r>
            <a:r>
              <a:rPr dirty="0" err="1"/>
              <a:t>제안</a:t>
            </a:r>
            <a:r>
              <a:rPr dirty="0"/>
              <a:t> </a:t>
            </a:r>
            <a:r>
              <a:rPr dirty="0" err="1"/>
              <a:t>방법보다</a:t>
            </a:r>
            <a:r>
              <a:rPr dirty="0"/>
              <a:t> 18.0%p </a:t>
            </a:r>
            <a:r>
              <a:rPr dirty="0" err="1"/>
              <a:t>낮았습니다</a:t>
            </a:r>
            <a:r>
              <a:rPr dirty="0"/>
              <a:t>.</a:t>
            </a:r>
          </a:p>
          <a:p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단계의</a:t>
            </a:r>
            <a:r>
              <a:rPr dirty="0"/>
              <a:t> </a:t>
            </a:r>
            <a:r>
              <a:rPr dirty="0" err="1"/>
              <a:t>재현율이</a:t>
            </a:r>
            <a:r>
              <a:rPr dirty="0"/>
              <a:t> </a:t>
            </a:r>
            <a:r>
              <a:rPr dirty="0" err="1"/>
              <a:t>높다고</a:t>
            </a:r>
            <a:r>
              <a:rPr dirty="0"/>
              <a:t> </a:t>
            </a:r>
            <a:r>
              <a:rPr dirty="0" err="1"/>
              <a:t>해서</a:t>
            </a:r>
            <a:r>
              <a:rPr dirty="0"/>
              <a:t> </a:t>
            </a:r>
            <a:r>
              <a:rPr dirty="0" err="1"/>
              <a:t>답변</a:t>
            </a:r>
            <a:r>
              <a:rPr dirty="0"/>
              <a:t> </a:t>
            </a:r>
            <a:r>
              <a:rPr dirty="0" err="1"/>
              <a:t>정확도가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것은</a:t>
            </a:r>
            <a:r>
              <a:rPr dirty="0"/>
              <a:t> </a:t>
            </a:r>
            <a:r>
              <a:rPr dirty="0" err="1"/>
              <a:t>아니었습니다</a:t>
            </a:r>
            <a:r>
              <a:rPr dirty="0"/>
              <a:t>.</a:t>
            </a:r>
          </a:p>
          <a:p>
            <a:r>
              <a:rPr lang="ko-KR" altLang="en-US" dirty="0"/>
              <a:t>다만 </a:t>
            </a:r>
            <a:r>
              <a:rPr lang="en-US" altLang="ko-KR" dirty="0" err="1"/>
              <a:t>LangChain</a:t>
            </a:r>
            <a:r>
              <a:rPr lang="ko-KR" altLang="en-US" dirty="0"/>
              <a:t> </a:t>
            </a:r>
            <a:r>
              <a:rPr lang="ko-KR" altLang="en-US" dirty="0" err="1"/>
              <a:t>청크는</a:t>
            </a:r>
            <a:r>
              <a:rPr lang="ko-KR" altLang="en-US" dirty="0"/>
              <a:t> 튜토리얼의 지시문을 그대로 쓰기 때문에</a:t>
            </a:r>
            <a:r>
              <a:rPr lang="en-US" altLang="ko-KR" dirty="0"/>
              <a:t>, </a:t>
            </a:r>
            <a:r>
              <a:rPr lang="ko-KR" altLang="en-US" dirty="0"/>
              <a:t>이 차이에는 지시문의 차이도 섞여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지시문은 </a:t>
            </a:r>
            <a:r>
              <a:rPr lang="en-US" altLang="ko-KR" dirty="0" err="1"/>
              <a:t>LangChain</a:t>
            </a:r>
            <a:r>
              <a:rPr lang="ko-KR" altLang="en-US" dirty="0"/>
              <a:t> 튜토리얼 것을 그대로 두고 입력만 셀 문장 </a:t>
            </a:r>
            <a:r>
              <a:rPr lang="en-US" altLang="ko-KR" dirty="0"/>
              <a:t>20</a:t>
            </a:r>
            <a:r>
              <a:rPr lang="ko-KR" altLang="en-US" dirty="0"/>
              <a:t>개로 바꾼 보조 비교도 했는데</a:t>
            </a:r>
            <a:r>
              <a:rPr lang="en-US" altLang="ko-KR" dirty="0"/>
              <a:t>, </a:t>
            </a:r>
            <a:r>
              <a:rPr lang="ko-KR" altLang="en-US" dirty="0"/>
              <a:t>이때 정확도는 </a:t>
            </a:r>
            <a:r>
              <a:rPr lang="en-US" altLang="ko-KR" dirty="0"/>
              <a:t>46.0%</a:t>
            </a:r>
            <a:r>
              <a:rPr lang="ko-KR" altLang="en-US" dirty="0"/>
              <a:t>로 </a:t>
            </a:r>
            <a:r>
              <a:rPr lang="en-US" altLang="ko-KR" dirty="0" err="1"/>
              <a:t>LangChain</a:t>
            </a:r>
            <a:r>
              <a:rPr lang="ko-KR" altLang="en-US" dirty="0"/>
              <a:t> </a:t>
            </a:r>
            <a:r>
              <a:rPr lang="ko-KR" altLang="en-US" dirty="0" err="1"/>
              <a:t>청크보다</a:t>
            </a:r>
            <a:r>
              <a:rPr lang="ko-KR" altLang="en-US" dirty="0"/>
              <a:t> </a:t>
            </a:r>
            <a:r>
              <a:rPr lang="en-US" altLang="ko-KR" dirty="0"/>
              <a:t>6.5%p </a:t>
            </a:r>
            <a:r>
              <a:rPr lang="ko-KR" altLang="en-US" dirty="0"/>
              <a:t>높았습니다</a:t>
            </a:r>
            <a:r>
              <a:rPr lang="en-US" altLang="ko-KR" dirty="0"/>
              <a:t>.</a:t>
            </a:r>
          </a:p>
          <a:p>
            <a:r>
              <a:rPr dirty="0"/>
              <a:t>[</a:t>
            </a:r>
            <a:r>
              <a:rPr dirty="0" err="1"/>
              <a:t>선택</a:t>
            </a:r>
            <a:r>
              <a:rPr dirty="0"/>
              <a:t>] </a:t>
            </a:r>
            <a:r>
              <a:rPr dirty="0" err="1"/>
              <a:t>TableRAG</a:t>
            </a:r>
            <a:r>
              <a:rPr dirty="0"/>
              <a:t>(Chen)은 200문항 </a:t>
            </a:r>
            <a:r>
              <a:rPr dirty="0" err="1"/>
              <a:t>가운데</a:t>
            </a:r>
            <a:r>
              <a:rPr dirty="0"/>
              <a:t> 102문항에서 </a:t>
            </a:r>
            <a:r>
              <a:rPr dirty="0" err="1"/>
              <a:t>LLM이</a:t>
            </a:r>
            <a:r>
              <a:rPr dirty="0"/>
              <a:t> </a:t>
            </a:r>
            <a:r>
              <a:rPr dirty="0" err="1"/>
              <a:t>작성한</a:t>
            </a:r>
            <a:r>
              <a:rPr dirty="0"/>
              <a:t> </a:t>
            </a:r>
            <a:r>
              <a:rPr dirty="0" err="1"/>
              <a:t>코드에</a:t>
            </a:r>
            <a:r>
              <a:rPr dirty="0"/>
              <a:t> </a:t>
            </a: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오류가</a:t>
            </a:r>
            <a:r>
              <a:rPr dirty="0"/>
              <a:t> </a:t>
            </a:r>
            <a:r>
              <a:rPr dirty="0" err="1"/>
              <a:t>났고</a:t>
            </a:r>
            <a:r>
              <a:rPr dirty="0"/>
              <a:t>, 105문항에서는 </a:t>
            </a:r>
            <a:r>
              <a:rPr dirty="0" err="1"/>
              <a:t>정해진</a:t>
            </a:r>
            <a:r>
              <a:rPr dirty="0"/>
              <a:t> 5번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답을</a:t>
            </a:r>
            <a:r>
              <a:rPr dirty="0"/>
              <a:t> </a:t>
            </a:r>
            <a:r>
              <a:rPr dirty="0" err="1"/>
              <a:t>내지</a:t>
            </a:r>
            <a:r>
              <a:rPr dirty="0"/>
              <a:t> </a:t>
            </a:r>
            <a:r>
              <a:rPr dirty="0" err="1"/>
              <a:t>못했습니다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1798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0:05 · 누적 19:40]</a:t>
            </a:r>
          </a:p>
          <a:p>
            <a:r>
              <a:t>마지막으로 결론입니다.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[약 1:25 · 누적 21:00]</a:t>
            </a:r>
          </a:p>
          <a:p>
            <a:r>
              <a:t>본 연구는 계층형 표가 들어 있는 문서의 RAG에서, 셀 하나를 검색 단위로 삼고 셀마다 행·열 머리글 경로를 붙인 셀 문장 방식을 제안했습니다.</a:t>
            </a:r>
          </a:p>
          <a:p>
            <a:r>
              <a:t>검색에서는 문항당 20개의 셀만 전달하여 정답 셀의 93.9%를 전달했고, 전달된 셀 가운데 정답 셀의 비율은 11.0%였습니다.</a:t>
            </a:r>
          </a:p>
          <a:p>
            <a:r>
              <a:t>LangChain 청크는 126.8개의 셀을 전달하여 재현율 99.4%, 셀 정밀도 2.0%였습니다.</a:t>
            </a:r>
          </a:p>
          <a:p>
            <a:r>
              <a:t>답변 정확도는 57.5%로 LangChain 청크, RAPTOR, TableRAG(Chen)보다 유의하게 높았고, TableRAG(Yu)보다 4.0%p 높았습니다.</a:t>
            </a:r>
          </a:p>
          <a:p>
            <a:r>
              <a:t>캡션이 있는 HiTab에서는 캡션을 넣으면 표 538개를 한데 모아 검색할 때 재현율@20이 81.2%에서 91.4%로 올랐습니다.</a:t>
            </a:r>
          </a:p>
          <a:p>
            <a:r>
              <a:t>[선택 — 슬라이드에는 없음. 연구 목표의 셋째 항목 결과]</a:t>
            </a:r>
          </a:p>
          <a:p>
            <a:r>
              <a:t>셀 문장에서 머리글 경로만 빼고 셀 값만으로 검색하면, 재현율@20이 93.9%에서 24.7%로, 답변 정확도가 57.5%에서 16.5%로 떨어졌습니다. 정답 셀을 찾는 데 머리글 경로가 필요하다는 것을 확인했습니다.</a:t>
            </a:r>
          </a:p>
          <a:p>
            <a:r>
              <a:t>[선택 — 한계]</a:t>
            </a:r>
          </a:p>
          <a:p>
            <a:r>
              <a:t>다만 제안 방법과 청크 방식의 답변 정확도 차이가, 전달하는 셀 수가 줄어서 생긴 것인지 셀마다 머리글을 붙인 형식 때문에 생긴 것인지는 나누어 측정하지 못했습니다. 이 부분은 향후 연구로 확인하겠습니다.</a:t>
            </a:r>
          </a:p>
          <a:p>
            <a:r>
              <a:t>이상으로 발표를 마치겠습니다. 감사합니다.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03EBE0F-152B-4AA6-BEA6-EC76E0A98D5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613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53448"/>
          </a:xfrm>
        </p:spPr>
        <p:txBody>
          <a:bodyPr anchor="b"/>
          <a:lstStyle>
            <a:lvl1pPr algn="ctr">
              <a:defRPr sz="3600" b="1"/>
            </a:lvl1pPr>
          </a:lstStyle>
          <a:p>
            <a:pPr lvl="0" algn="ctr">
              <a:lnSpc>
                <a:spcPct val="99600"/>
              </a:lnSpc>
              <a:defRPr/>
            </a:pPr>
            <a:endParaRPr lang="ko-KR" b="0" i="0" u="none" strike="noStrike" dirty="0">
              <a:solidFill>
                <a:srgbClr val="0063BA"/>
              </a:solidFill>
              <a:latin typeface="ADLaM Display"/>
              <a:ea typeface="Pretendard Bold"/>
              <a:cs typeface="ADLaM Display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344645"/>
            <a:ext cx="9144000" cy="89047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 dirty="0"/>
              <a:t>　　　　　　　　　　　　　　　　석사과정 유권환</a:t>
            </a:r>
          </a:p>
        </p:txBody>
      </p:sp>
      <p:sp>
        <p:nvSpPr>
          <p:cNvPr id="13" name="순서도: 대체 처리 12"/>
          <p:cNvSpPr/>
          <p:nvPr userDrawn="1"/>
        </p:nvSpPr>
        <p:spPr>
          <a:xfrm>
            <a:off x="1524000" y="3128077"/>
            <a:ext cx="9144000" cy="64302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C45297CE-9713-53FA-A4C6-422A2323A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280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19D8-23B5-4ADA-BDA1-C7C07901E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76274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개체 틀 1"/>
          <p:cNvSpPr>
            <a:spLocks noGrp="1"/>
          </p:cNvSpPr>
          <p:nvPr>
            <p:ph type="title" hasCustomPrompt="1"/>
          </p:nvPr>
        </p:nvSpPr>
        <p:spPr>
          <a:xfrm>
            <a:off x="258462" y="138485"/>
            <a:ext cx="11713176" cy="68213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defRPr sz="3600" b="1"/>
            </a:lvl1pPr>
          </a:lstStyle>
          <a:p>
            <a:pPr lvl="0" algn="l">
              <a:lnSpc>
                <a:spcPct val="99600"/>
              </a:lnSpc>
              <a:defRPr/>
            </a:pPr>
            <a:r>
              <a:rPr lang="ko-KR" b="0" i="0" u="none" strike="noStrike">
                <a:solidFill>
                  <a:srgbClr val="0063BA"/>
                </a:solidFill>
                <a:latin typeface="ADLaM Display"/>
                <a:ea typeface="Pretendard Bold"/>
                <a:cs typeface="ADLaM Display"/>
              </a:rPr>
              <a:t>문제</a:t>
            </a:r>
            <a:r>
              <a:rPr lang="en-US" b="0" i="0" u="none" strike="noStrike">
                <a:solidFill>
                  <a:srgbClr val="0063BA"/>
                </a:solidFill>
                <a:latin typeface="ADLaM Display"/>
                <a:ea typeface="ADLaM Display"/>
                <a:cs typeface="ADLaM Display"/>
              </a:rPr>
              <a:t> </a:t>
            </a:r>
            <a:r>
              <a:rPr lang="ko-KR" b="0" i="0" u="none" strike="noStrike">
                <a:solidFill>
                  <a:srgbClr val="0063BA"/>
                </a:solidFill>
                <a:latin typeface="ADLaM Display"/>
                <a:ea typeface="Pretendard Bold"/>
                <a:cs typeface="ADLaM Display"/>
              </a:rPr>
              <a:t>인식</a:t>
            </a:r>
            <a:endParaRPr lang="ko-KR" altLang="en-US"/>
          </a:p>
        </p:txBody>
      </p:sp>
      <p:sp>
        <p:nvSpPr>
          <p:cNvPr id="16" name="순서도: 대체 처리 15"/>
          <p:cNvSpPr/>
          <p:nvPr userDrawn="1"/>
        </p:nvSpPr>
        <p:spPr>
          <a:xfrm>
            <a:off x="258462" y="883142"/>
            <a:ext cx="11713176" cy="45719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1"/>
          </p:nvPr>
        </p:nvSpPr>
        <p:spPr>
          <a:xfrm>
            <a:off x="360363" y="1171074"/>
            <a:ext cx="11610975" cy="5005889"/>
          </a:xfrm>
        </p:spPr>
        <p:txBody>
          <a:bodyPr/>
          <a:lstStyle>
            <a:lvl1pPr marL="0" indent="0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46C3DCF9-0C0E-F78B-8754-BA1A6EEDD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280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19D8-23B5-4ADA-BDA1-C7C07901E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73861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258462" y="138485"/>
            <a:ext cx="11713176" cy="68213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defRPr sz="3600" b="1"/>
            </a:lvl1pPr>
          </a:lstStyle>
          <a:p>
            <a:pPr lvl="0" algn="l">
              <a:lnSpc>
                <a:spcPct val="99600"/>
              </a:lnSpc>
              <a:defRPr/>
            </a:pPr>
            <a:endParaRPr lang="ko-KR" altLang="en-US" dirty="0"/>
          </a:p>
        </p:txBody>
      </p:sp>
      <p:sp>
        <p:nvSpPr>
          <p:cNvPr id="16" name="순서도: 대체 처리 15"/>
          <p:cNvSpPr/>
          <p:nvPr userDrawn="1"/>
        </p:nvSpPr>
        <p:spPr>
          <a:xfrm>
            <a:off x="258462" y="883142"/>
            <a:ext cx="11713176" cy="45719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순서도: 대체 처리 18"/>
          <p:cNvSpPr/>
          <p:nvPr userDrawn="1"/>
        </p:nvSpPr>
        <p:spPr>
          <a:xfrm flipV="1">
            <a:off x="467009" y="1079910"/>
            <a:ext cx="134570" cy="45719"/>
          </a:xfrm>
          <a:prstGeom prst="flowChartAlternateProcess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대체 처리 19"/>
          <p:cNvSpPr/>
          <p:nvPr userDrawn="1"/>
        </p:nvSpPr>
        <p:spPr>
          <a:xfrm flipV="1">
            <a:off x="601579" y="1079910"/>
            <a:ext cx="134570" cy="45719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순서도: 대체 처리 20"/>
          <p:cNvSpPr/>
          <p:nvPr userDrawn="1"/>
        </p:nvSpPr>
        <p:spPr>
          <a:xfrm flipV="1">
            <a:off x="736149" y="1079910"/>
            <a:ext cx="134570" cy="45719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순서도: 대체 처리 21"/>
          <p:cNvSpPr/>
          <p:nvPr userDrawn="1"/>
        </p:nvSpPr>
        <p:spPr>
          <a:xfrm flipV="1">
            <a:off x="870719" y="1079910"/>
            <a:ext cx="134570" cy="45719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sz="quarter" idx="10"/>
          </p:nvPr>
        </p:nvSpPr>
        <p:spPr>
          <a:xfrm>
            <a:off x="360663" y="1137823"/>
            <a:ext cx="11610975" cy="538162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1"/>
          </p:nvPr>
        </p:nvSpPr>
        <p:spPr>
          <a:xfrm>
            <a:off x="360363" y="1884947"/>
            <a:ext cx="11610975" cy="4292016"/>
          </a:xfrm>
        </p:spPr>
        <p:txBody>
          <a:bodyPr/>
          <a:lstStyle>
            <a:lvl1pPr marL="0" indent="0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7F056018-070B-7787-6005-C284D9FFCA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280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19D8-23B5-4ADA-BDA1-C7C07901E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3231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258462" y="138485"/>
            <a:ext cx="11713176" cy="68213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defRPr sz="3600" b="1"/>
            </a:lvl1pPr>
          </a:lstStyle>
          <a:p>
            <a:pPr lvl="0" algn="l">
              <a:lnSpc>
                <a:spcPct val="99600"/>
              </a:lnSpc>
              <a:defRPr/>
            </a:pPr>
            <a:endParaRPr lang="ko-KR" altLang="en-US" dirty="0"/>
          </a:p>
        </p:txBody>
      </p:sp>
      <p:sp>
        <p:nvSpPr>
          <p:cNvPr id="16" name="순서도: 대체 처리 15"/>
          <p:cNvSpPr/>
          <p:nvPr userDrawn="1"/>
        </p:nvSpPr>
        <p:spPr>
          <a:xfrm>
            <a:off x="258462" y="883142"/>
            <a:ext cx="11713176" cy="45719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순서도: 대체 처리 18"/>
          <p:cNvSpPr/>
          <p:nvPr userDrawn="1"/>
        </p:nvSpPr>
        <p:spPr>
          <a:xfrm flipV="1">
            <a:off x="467009" y="1079910"/>
            <a:ext cx="134570" cy="45719"/>
          </a:xfrm>
          <a:prstGeom prst="flowChartAlternateProcess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순서도: 대체 처리 19"/>
          <p:cNvSpPr/>
          <p:nvPr userDrawn="1"/>
        </p:nvSpPr>
        <p:spPr>
          <a:xfrm flipV="1">
            <a:off x="601579" y="1079910"/>
            <a:ext cx="134570" cy="45719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순서도: 대체 처리 20"/>
          <p:cNvSpPr/>
          <p:nvPr userDrawn="1"/>
        </p:nvSpPr>
        <p:spPr>
          <a:xfrm flipV="1">
            <a:off x="736149" y="1079910"/>
            <a:ext cx="134570" cy="45719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순서도: 대체 처리 21"/>
          <p:cNvSpPr/>
          <p:nvPr userDrawn="1"/>
        </p:nvSpPr>
        <p:spPr>
          <a:xfrm flipV="1">
            <a:off x="870719" y="1079910"/>
            <a:ext cx="134570" cy="45719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sz="quarter" idx="10"/>
          </p:nvPr>
        </p:nvSpPr>
        <p:spPr>
          <a:xfrm>
            <a:off x="360663" y="1137823"/>
            <a:ext cx="11610975" cy="538162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1"/>
          </p:nvPr>
        </p:nvSpPr>
        <p:spPr>
          <a:xfrm>
            <a:off x="360363" y="1884947"/>
            <a:ext cx="11610975" cy="4292016"/>
          </a:xfrm>
        </p:spPr>
        <p:txBody>
          <a:bodyPr/>
          <a:lstStyle>
            <a:lvl1pPr marL="0" indent="0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Font typeface="Arial"/>
              <a:buNone/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A4567B18-56D0-5ADA-D3E9-CCF992D23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280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19D8-23B5-4ADA-BDA1-C7C07901EA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31707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gi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35280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19D8-23B5-4ADA-BDA1-C7C07901EA6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26" name="그림 2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906" y="6295890"/>
            <a:ext cx="1159476" cy="564873"/>
          </a:xfrm>
          <a:prstGeom prst="rect">
            <a:avLst/>
          </a:prstGeom>
        </p:spPr>
      </p:pic>
      <p:sp>
        <p:nvSpPr>
          <p:cNvPr id="27" name="TextBox 26"/>
          <p:cNvSpPr txBox="1"/>
          <p:nvPr userDrawn="1"/>
        </p:nvSpPr>
        <p:spPr>
          <a:xfrm>
            <a:off x="11418582" y="6491112"/>
            <a:ext cx="622995" cy="155377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1400" b="1" dirty="0">
                <a:solidFill>
                  <a:schemeClr val="accent1">
                    <a:lumMod val="50000"/>
                    <a:alpha val="70000"/>
                  </a:schemeClr>
                </a:solidFill>
                <a:latin typeface="+mn-lt"/>
              </a:rPr>
              <a:t>SC Lab</a:t>
            </a:r>
            <a:endParaRPr lang="ko-KR" altLang="en-US" sz="1400" b="1" dirty="0">
              <a:solidFill>
                <a:schemeClr val="accent1">
                  <a:lumMod val="50000"/>
                  <a:alpha val="7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0894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base" latinLnBrk="0"/>
            <a:r>
              <a:rPr lang="ko-KR" altLang="ko-KR" dirty="0"/>
              <a:t>계층형 표 문서의 </a:t>
            </a:r>
            <a:br>
              <a:rPr lang="en-US" altLang="ko-KR" dirty="0"/>
            </a:br>
            <a:r>
              <a:rPr lang="ko-KR" altLang="ko-KR" dirty="0"/>
              <a:t>셀 문장 검색 단위 기반 </a:t>
            </a:r>
            <a:r>
              <a:rPr lang="en-US" altLang="ko-KR" dirty="0"/>
              <a:t>RAG</a:t>
            </a:r>
            <a:endParaRPr lang="ko-KR" altLang="ko-KR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소프트웨어학부　유권환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5597AD0C-6062-4458-0E39-11E010F502FD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133772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Tx/>
              <a:buChar char="-"/>
            </a:pPr>
            <a:r>
              <a:rPr lang="ko-KR" altLang="en-US" dirty="0"/>
              <a:t>서론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연구 배경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연구 목표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endParaRPr lang="en-US" altLang="ko-KR" dirty="0"/>
          </a:p>
          <a:p>
            <a:pPr marL="457200" indent="-457200">
              <a:buFontTx/>
              <a:buChar char="-"/>
            </a:pPr>
            <a:r>
              <a:rPr lang="ko-KR" altLang="en-US" dirty="0"/>
              <a:t>설계 및 구현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시스템 구조 및 구성 요소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머리글 경로 구성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셀 문장 생성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유사도 계산 예시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endParaRPr lang="en-US" altLang="ko-KR" dirty="0"/>
          </a:p>
          <a:p>
            <a:pPr marL="457200" indent="-457200">
              <a:buFontTx/>
              <a:buChar char="-"/>
            </a:pPr>
            <a:r>
              <a:rPr lang="ko-KR" altLang="en-US" dirty="0"/>
              <a:t>실험 및 평가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실험 환경 및 방법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평가 지표 </a:t>
            </a:r>
            <a:endParaRPr lang="en-US" altLang="ko-KR" dirty="0"/>
          </a:p>
          <a:p>
            <a:pPr marL="1143000" lvl="1" indent="-457200">
              <a:buFontTx/>
              <a:buChar char="-"/>
            </a:pPr>
            <a:r>
              <a:rPr lang="ko-KR" altLang="en-US" dirty="0"/>
              <a:t>실험 결과</a:t>
            </a:r>
            <a:endParaRPr lang="en-US" altLang="ko-KR" dirty="0"/>
          </a:p>
          <a:p>
            <a:pPr marL="457200" indent="-457200">
              <a:buFontTx/>
              <a:buChar char="-"/>
            </a:pPr>
            <a:endParaRPr lang="en-US" altLang="ko-KR" dirty="0"/>
          </a:p>
          <a:p>
            <a:pPr marL="457200" indent="-457200">
              <a:buFontTx/>
              <a:buChar char="-"/>
            </a:pPr>
            <a:r>
              <a:rPr lang="ko-KR" altLang="en-US" dirty="0"/>
              <a:t>결론</a:t>
            </a:r>
            <a:endParaRPr lang="en-US" altLang="ko-KR" dirty="0"/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7AD6CDEA-B7D9-718B-9E45-44FBF3801B58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60081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05BB7-4B1F-86CB-8254-BE4ADC7D1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FAD20C-969B-7846-E65A-F71A0EEAEC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DE3C290-D5E4-BD75-3739-3466D774B35C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3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181550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18991-D3C3-FF2A-DF8F-C7C598FF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0D7A0C-26B2-C8D1-D405-6D81ECDB1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배경</a:t>
            </a:r>
          </a:p>
        </p:txBody>
      </p:sp>
      <p:sp>
        <p:nvSpPr>
          <p:cNvPr id="202" name="부제목 개체 틀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2200" dirty="0"/>
              <a:t>청크 단위 검색의 두 가지 문제</a:t>
            </a:r>
          </a:p>
        </p:txBody>
      </p:sp>
      <p:sp>
        <p:nvSpPr>
          <p:cNvPr id="203" name="텍스트 개체 틀"/>
          <p:cNvSpPr>
            <a:spLocks noGrp="1"/>
          </p:cNvSpPr>
          <p:nvPr>
            <p:ph type="body" sz="quarter" idx="11"/>
          </p:nvPr>
        </p:nvSpPr>
        <p:spPr>
          <a:xfrm>
            <a:off x="356616" y="1737360"/>
            <a:ext cx="4434840" cy="2651760"/>
          </a:xfrm>
        </p:spPr>
        <p:txBody>
          <a:bodyPr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A78D6"/>
                </a:solidFill>
              </a:rPr>
              <a:t>① 셀 값과 머리글의 분리</a:t>
            </a:r>
            <a:endParaRPr lang="ko-KR" altLang="en-US" sz="2000" dirty="0"/>
          </a:p>
          <a:p>
            <a:pPr marL="274320" indent="-274320" latinLnBrk="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ko-KR" altLang="en-US" sz="1600" dirty="0"/>
              <a:t>표를 1,000자 청크로 분할하면</a:t>
            </a:r>
            <a:br>
              <a:rPr lang="ko-KR" altLang="en-US" sz="1600"/>
            </a:br>
            <a:r>
              <a:rPr lang="ko-KR" altLang="en-US" sz="1600" dirty="0"/>
              <a:t>아래쪽 청크에는 열 머리글 줄이 없음</a:t>
            </a:r>
          </a:p>
          <a:p>
            <a:pPr marL="274320" indent="-274320" latinLnBrk="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ko-KR" altLang="en-US" sz="1600" dirty="0"/>
              <a:t>그림의 청크 2만 검색되면</a:t>
            </a:r>
            <a:br>
              <a:rPr lang="ko-KR" altLang="en-US" sz="1600"/>
            </a:br>
            <a:r>
              <a:rPr lang="ko-KR" altLang="en-US" sz="1600" dirty="0"/>
              <a:t>20,854가 어느 연도의 값인지 알 수 없음</a:t>
            </a:r>
          </a:p>
          <a:p>
            <a:pPr marL="274320" indent="-274320" latinLnBrk="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ko-KR" altLang="en-US" sz="1600" dirty="0"/>
              <a:t>MultiHiertt 2,885문항 중 11.8%는</a:t>
            </a:r>
            <a:br>
              <a:rPr lang="ko-KR" altLang="en-US" sz="1600"/>
            </a:br>
            <a:r>
              <a:rPr lang="ko-KR" altLang="en-US" sz="1600" dirty="0"/>
              <a:t>정답 셀이 열 머리글 없는 청크에만 있음</a:t>
            </a:r>
          </a:p>
        </p:txBody>
      </p:sp>
      <p:pic>
        <p:nvPicPr>
          <p:cNvPr id="201" name="그림 201" descr="fig3_1_chunk_split"/>
          <p:cNvPicPr>
            <a:picLocks noChangeAspect="1"/>
          </p:cNvPicPr>
          <p:nvPr/>
        </p:nvPicPr>
        <p:blipFill>
          <a:blip r:embed="rId3"/>
          <a:srcRect r="11010"/>
          <a:stretch>
            <a:fillRect/>
          </a:stretch>
        </p:blipFill>
        <p:spPr>
          <a:xfrm>
            <a:off x="4791456" y="1204645"/>
            <a:ext cx="7268290" cy="3480383"/>
          </a:xfrm>
          <a:prstGeom prst="rect">
            <a:avLst/>
          </a:prstGeom>
        </p:spPr>
      </p:pic>
      <p:sp>
        <p:nvSpPr>
          <p:cNvPr id="204" name="텍스트 204"/>
          <p:cNvSpPr txBox="1"/>
          <p:nvPr/>
        </p:nvSpPr>
        <p:spPr>
          <a:xfrm>
            <a:off x="356616" y="4434840"/>
            <a:ext cx="8001000" cy="214884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rtlCol="0" anchor="t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A78D6"/>
                </a:solidFill>
              </a:rPr>
              <a:t>② 답에 필요 없는 셀의 대량 전달</a:t>
            </a:r>
            <a:endParaRPr lang="ko-KR" altLang="en-US" sz="2000" dirty="0"/>
          </a:p>
          <a:p>
            <a:pPr marL="274320" indent="-274320" latinLnBrk="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ko-KR" altLang="en-US" sz="1600" dirty="0"/>
              <a:t>정답 셀은 문항당 평균 2.37개이나, LangChain 청크 상위 4개는 126.8셀을 전달함</a:t>
            </a:r>
          </a:p>
          <a:p>
            <a:pPr marL="274320" indent="-274320" latinLnBrk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/>
              <a:t>재현율은 99.4%로 높아도, 전달된 셀 가운데 정답 셀은 2.0%에 그침</a:t>
            </a:r>
          </a:p>
          <a:p>
            <a:pPr marL="274320" indent="-274320" latinLnBrk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/>
              <a:t>질문과 무관한 내용이 함께 입력되면 LLM의 정확도가 저하됨(선행 연구)</a:t>
            </a:r>
          </a:p>
          <a:p>
            <a:pPr marL="685800" indent="-274320" latinLnBrk="0">
              <a:spcBef>
                <a:spcPts val="300"/>
              </a:spcBef>
              <a:buFontTx/>
              <a:buChar char="-"/>
            </a:pPr>
            <a:r>
              <a:rPr lang="ko-KR" altLang="en-US" sz="1400" dirty="0"/>
              <a:t>Cuconasu 등(SIGIR 2024): 답이 없는 유사 문서를 추가하면 정확도가 크게 하락</a:t>
            </a:r>
          </a:p>
          <a:p>
            <a:pPr marL="685800" indent="-274320" latinLnBrk="0">
              <a:spcBef>
                <a:spcPts val="300"/>
              </a:spcBef>
              <a:buFontTx/>
              <a:buChar char="-"/>
            </a:pPr>
            <a:r>
              <a:rPr lang="ko-KR" altLang="en-US" sz="1400" dirty="0"/>
              <a:t>Shi 등(ICML 2023): 무관한 문장 하나만 추가해도 산술 문제 정확도가 크게 하락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E540DDD7-622A-343A-E9D1-3DA5460FFDE7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B96D59FA-437E-7911-8BE2-F55544EEFF24}"/>
              </a:ext>
            </a:extLst>
          </p:cNvPr>
          <p:cNvSpPr txBox="1">
            <a:spLocks/>
          </p:cNvSpPr>
          <p:nvPr/>
        </p:nvSpPr>
        <p:spPr>
          <a:xfrm>
            <a:off x="1676400" y="65651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55073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18991-D3C3-FF2A-DF8F-C7C598FF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0D7A0C-26B2-C8D1-D405-6D81ECDB1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배경</a:t>
            </a:r>
          </a:p>
        </p:txBody>
      </p:sp>
      <p:sp>
        <p:nvSpPr>
          <p:cNvPr id="206" name="부제목 개체 틀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2200" dirty="0"/>
              <a:t>기존 연구는 두 문제 가운데 하나만 해결함</a:t>
            </a:r>
          </a:p>
        </p:txBody>
      </p:sp>
      <p:sp>
        <p:nvSpPr>
          <p:cNvPr id="207" name="텍스트 207"/>
          <p:cNvSpPr txBox="1"/>
          <p:nvPr/>
        </p:nvSpPr>
        <p:spPr>
          <a:xfrm>
            <a:off x="411480" y="16916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595959"/>
                </a:solidFill>
              </a:rPr>
              <a:t>문제</a:t>
            </a:r>
            <a:endParaRPr lang="ko-KR" altLang="en-US" sz="1400" dirty="0"/>
          </a:p>
        </p:txBody>
      </p:sp>
      <p:sp>
        <p:nvSpPr>
          <p:cNvPr id="208" name="텍스트 208"/>
          <p:cNvSpPr txBox="1"/>
          <p:nvPr/>
        </p:nvSpPr>
        <p:spPr>
          <a:xfrm>
            <a:off x="3429000" y="169164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595959"/>
                </a:solidFill>
              </a:rPr>
              <a:t>기존 방법</a:t>
            </a:r>
            <a:endParaRPr lang="ko-KR" altLang="en-US" sz="1400" dirty="0"/>
          </a:p>
        </p:txBody>
      </p:sp>
      <p:sp>
        <p:nvSpPr>
          <p:cNvPr id="209" name="텍스트 209"/>
          <p:cNvSpPr txBox="1"/>
          <p:nvPr/>
        </p:nvSpPr>
        <p:spPr>
          <a:xfrm>
            <a:off x="8229600" y="16916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595959"/>
                </a:solidFill>
              </a:rPr>
              <a:t> 한계</a:t>
            </a:r>
            <a:endParaRPr lang="ko-KR" altLang="en-US" sz="1400" dirty="0"/>
          </a:p>
        </p:txBody>
      </p:sp>
      <p:sp>
        <p:nvSpPr>
          <p:cNvPr id="210" name="텍스트 210"/>
          <p:cNvSpPr/>
          <p:nvPr/>
        </p:nvSpPr>
        <p:spPr>
          <a:xfrm>
            <a:off x="411480" y="210312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E3EEFB"/>
          </a:solidFill>
          <a:ln>
            <a:noFill/>
          </a:ln>
        </p:spPr>
        <p:txBody>
          <a:bodyPr wrap="square" lIns="137160" tIns="45720" rIns="109728" bIns="45720" rtlCol="0" anchor="ctr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800" b="1" dirty="0"/>
              <a:t>① 셀 값과</a:t>
            </a:r>
            <a:br>
              <a:rPr lang="ko-KR" altLang="en-US" sz="1800"/>
            </a:br>
            <a:r>
              <a:rPr lang="ko-KR" altLang="en-US" sz="1800" b="1" dirty="0"/>
              <a:t>머리글의 분리</a:t>
            </a:r>
            <a:endParaRPr lang="ko-KR" altLang="en-US" sz="1800" dirty="0"/>
          </a:p>
        </p:txBody>
      </p:sp>
      <p:sp>
        <p:nvSpPr>
          <p:cNvPr id="211" name="텍스트 211"/>
          <p:cNvSpPr/>
          <p:nvPr/>
        </p:nvSpPr>
        <p:spPr>
          <a:xfrm>
            <a:off x="3429000" y="2103120"/>
            <a:ext cx="4343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137160" tIns="45720" rIns="109728" bIns="45720" rtlCol="0" anchor="ctr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A78D6"/>
                </a:solidFill>
              </a:rPr>
              <a:t>머리글 유지</a:t>
            </a:r>
            <a:endParaRPr lang="ko-KR" altLang="en-US" sz="1600" dirty="0"/>
          </a:p>
          <a:p>
            <a:pPr marL="274320" indent="-27432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청크마다 머리글 줄 반복  </a:t>
            </a:r>
            <a:r>
              <a:rPr lang="ko-KR" altLang="en-US" sz="1200" dirty="0">
                <a:solidFill>
                  <a:srgbClr val="595959"/>
                </a:solidFill>
              </a:rPr>
              <a:t>Docling(2024)</a:t>
            </a:r>
            <a:endParaRPr lang="ko-KR" altLang="en-US" sz="1400" dirty="0"/>
          </a:p>
          <a:p>
            <a:pPr marL="274320" indent="-274320" latinLnBrk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여러 층 머리글을 한 층으로 평탄화</a:t>
            </a:r>
            <a:br>
              <a:rPr lang="ko-KR" altLang="en-US" sz="1400"/>
            </a:br>
            <a:r>
              <a:rPr lang="ko-KR" altLang="en-US" sz="1200" dirty="0">
                <a:solidFill>
                  <a:srgbClr val="595959"/>
                </a:solidFill>
              </a:rPr>
              <a:t>SMART(ACL Findings 2026)</a:t>
            </a:r>
            <a:endParaRPr lang="ko-KR" altLang="en-US" sz="1400" dirty="0"/>
          </a:p>
        </p:txBody>
      </p:sp>
      <p:sp>
        <p:nvSpPr>
          <p:cNvPr id="212" name="텍스트 212"/>
          <p:cNvSpPr/>
          <p:nvPr/>
        </p:nvSpPr>
        <p:spPr>
          <a:xfrm>
            <a:off x="8229600" y="210312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FBE9DC"/>
          </a:solidFill>
          <a:ln>
            <a:noFill/>
          </a:ln>
        </p:spPr>
        <p:txBody>
          <a:bodyPr wrap="square" lIns="137160" tIns="45720" rIns="109728" bIns="45720" rtlCol="0" anchor="ctr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600" dirty="0"/>
              <a:t>청크나 표 전체를 전달하므로</a:t>
            </a:r>
          </a:p>
          <a:p>
            <a:pPr marL="0" indent="0" latinLnBrk="0">
              <a:spcBef>
                <a:spcPts val="200"/>
              </a:spcBef>
              <a:buNone/>
            </a:pPr>
            <a:r>
              <a:rPr lang="ko-KR" altLang="en-US" sz="1600" b="1" dirty="0">
                <a:solidFill>
                  <a:srgbClr val="C05A00"/>
                </a:solidFill>
              </a:rPr>
              <a:t>전달 셀 수가 줄지 않음</a:t>
            </a:r>
            <a:endParaRPr lang="ko-KR" altLang="en-US" sz="1600" dirty="0"/>
          </a:p>
        </p:txBody>
      </p:sp>
      <p:sp>
        <p:nvSpPr>
          <p:cNvPr id="213" name="텍스트 213"/>
          <p:cNvSpPr/>
          <p:nvPr/>
        </p:nvSpPr>
        <p:spPr>
          <a:xfrm>
            <a:off x="411480" y="361188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E3EEFB"/>
          </a:solidFill>
          <a:ln>
            <a:noFill/>
          </a:ln>
        </p:spPr>
        <p:txBody>
          <a:bodyPr wrap="square" lIns="137160" tIns="45720" rIns="109728" bIns="45720" rtlCol="0" anchor="ctr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800" b="1" dirty="0"/>
              <a:t>② 답에 필요 없는</a:t>
            </a:r>
            <a:br>
              <a:rPr lang="ko-KR" altLang="en-US" sz="1800"/>
            </a:br>
            <a:r>
              <a:rPr lang="ko-KR" altLang="en-US" sz="1800" b="1" dirty="0"/>
              <a:t>셀의 대량 전달</a:t>
            </a:r>
            <a:endParaRPr lang="ko-KR" altLang="en-US" sz="1800" dirty="0"/>
          </a:p>
        </p:txBody>
      </p:sp>
      <p:sp>
        <p:nvSpPr>
          <p:cNvPr id="214" name="텍스트 214"/>
          <p:cNvSpPr/>
          <p:nvPr/>
        </p:nvSpPr>
        <p:spPr>
          <a:xfrm>
            <a:off x="3429000" y="3611880"/>
            <a:ext cx="4343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137160" tIns="45720" rIns="109728" bIns="45720" rtlCol="0" anchor="ctr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A78D6"/>
                </a:solidFill>
              </a:rPr>
              <a:t>전달 셀 수 감소</a:t>
            </a:r>
            <a:endParaRPr lang="ko-KR" altLang="en-US" sz="1600" dirty="0"/>
          </a:p>
          <a:p>
            <a:pPr marL="274320" indent="-27432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셀 단위 검색  </a:t>
            </a:r>
            <a:r>
              <a:rPr lang="ko-KR" altLang="en-US" sz="1200" dirty="0">
                <a:solidFill>
                  <a:srgbClr val="595959"/>
                </a:solidFill>
              </a:rPr>
              <a:t>TableRAG(Chen), NeurIPS 2024</a:t>
            </a:r>
            <a:endParaRPr lang="ko-KR" altLang="en-US" sz="1400" dirty="0"/>
          </a:p>
          <a:p>
            <a:pPr marL="274320" indent="-274320" latinLnBrk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행·열 단위 검색  </a:t>
            </a:r>
            <a:r>
              <a:rPr lang="ko-KR" altLang="en-US" sz="1200" dirty="0">
                <a:solidFill>
                  <a:srgbClr val="595959"/>
                </a:solidFill>
              </a:rPr>
              <a:t>ITR, ACL 2023</a:t>
            </a:r>
            <a:endParaRPr lang="ko-KR" altLang="en-US" sz="1400" dirty="0"/>
          </a:p>
        </p:txBody>
      </p:sp>
      <p:sp>
        <p:nvSpPr>
          <p:cNvPr id="215" name="텍스트 215"/>
          <p:cNvSpPr/>
          <p:nvPr/>
        </p:nvSpPr>
        <p:spPr>
          <a:xfrm>
            <a:off x="8229600" y="361188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FBE9DC"/>
          </a:solidFill>
          <a:ln>
            <a:noFill/>
          </a:ln>
        </p:spPr>
        <p:txBody>
          <a:bodyPr wrap="square" lIns="137160" tIns="45720" rIns="109728" bIns="45720" rtlCol="0" anchor="ctr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600" dirty="0"/>
              <a:t>셀에서 행 머리글이나</a:t>
            </a:r>
          </a:p>
          <a:p>
            <a:pPr marL="0" indent="0" latinLnBrk="0">
              <a:spcBef>
                <a:spcPts val="200"/>
              </a:spcBef>
              <a:buNone/>
            </a:pPr>
            <a:r>
              <a:rPr lang="ko-KR" altLang="en-US" sz="1600" b="1" dirty="0">
                <a:solidFill>
                  <a:srgbClr val="C05A00"/>
                </a:solidFill>
              </a:rPr>
              <a:t>여러 층 머리글이 제거됨</a:t>
            </a:r>
            <a:endParaRPr lang="ko-KR" altLang="en-US" sz="1600" dirty="0"/>
          </a:p>
        </p:txBody>
      </p:sp>
      <p:cxnSp>
        <p:nvCxnSpPr>
          <p:cNvPr id="216" name="화살표 216"/>
          <p:cNvCxnSpPr/>
          <p:nvPr/>
        </p:nvCxnSpPr>
        <p:spPr>
          <a:xfrm>
            <a:off x="2999232" y="2766060"/>
            <a:ext cx="356616" cy="0"/>
          </a:xfrm>
          <a:prstGeom prst="straightConnector1">
            <a:avLst/>
          </a:prstGeom>
          <a:ln w="22225">
            <a:solidFill>
              <a:srgbClr val="595959"/>
            </a:solidFill>
            <a:tailEnd type="triangle"/>
          </a:ln>
        </p:spPr>
      </p:cxnSp>
      <p:cxnSp>
        <p:nvCxnSpPr>
          <p:cNvPr id="217" name="화살표 217"/>
          <p:cNvCxnSpPr/>
          <p:nvPr/>
        </p:nvCxnSpPr>
        <p:spPr>
          <a:xfrm>
            <a:off x="7845552" y="2766060"/>
            <a:ext cx="310896" cy="0"/>
          </a:xfrm>
          <a:prstGeom prst="straightConnector1">
            <a:avLst/>
          </a:prstGeom>
          <a:ln w="22225">
            <a:solidFill>
              <a:srgbClr val="595959"/>
            </a:solidFill>
            <a:tailEnd type="triangle"/>
          </a:ln>
        </p:spPr>
      </p:cxnSp>
      <p:cxnSp>
        <p:nvCxnSpPr>
          <p:cNvPr id="218" name="화살표 218"/>
          <p:cNvCxnSpPr/>
          <p:nvPr/>
        </p:nvCxnSpPr>
        <p:spPr>
          <a:xfrm>
            <a:off x="2999232" y="4274820"/>
            <a:ext cx="356616" cy="0"/>
          </a:xfrm>
          <a:prstGeom prst="straightConnector1">
            <a:avLst/>
          </a:prstGeom>
          <a:ln w="22225">
            <a:solidFill>
              <a:srgbClr val="595959"/>
            </a:solidFill>
            <a:tailEnd type="triangle"/>
          </a:ln>
        </p:spPr>
      </p:cxnSp>
      <p:cxnSp>
        <p:nvCxnSpPr>
          <p:cNvPr id="219" name="화살표 219"/>
          <p:cNvCxnSpPr/>
          <p:nvPr/>
        </p:nvCxnSpPr>
        <p:spPr>
          <a:xfrm>
            <a:off x="7845552" y="4274820"/>
            <a:ext cx="310896" cy="0"/>
          </a:xfrm>
          <a:prstGeom prst="straightConnector1">
            <a:avLst/>
          </a:prstGeom>
          <a:ln w="22225">
            <a:solidFill>
              <a:srgbClr val="595959"/>
            </a:solidFill>
            <a:tailEnd type="triangle"/>
          </a:ln>
        </p:spPr>
      </p:cxnSp>
      <p:sp>
        <p:nvSpPr>
          <p:cNvPr id="221" name="텍스트 221"/>
          <p:cNvSpPr txBox="1"/>
          <p:nvPr/>
        </p:nvSpPr>
        <p:spPr>
          <a:xfrm>
            <a:off x="360663" y="6092724"/>
            <a:ext cx="11384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595959"/>
                </a:solidFill>
              </a:rPr>
              <a:t>TableRAG(Chen): Chen 등(NeurIPS 2024)의 TableRAG. 이름이 같은 Yu 등(EMNLP 2025)의 TableRAG는 TableRAG(Yu)로 구분하여 표기함</a:t>
            </a:r>
            <a:endParaRPr lang="ko-KR" altLang="en-US" sz="11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D0587A7E-2406-505B-E27B-B884568B1A1B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5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550738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91CF-081B-95AF-EDE7-7F4D463BB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531D0E-3044-329F-81D8-C1C047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목표</a:t>
            </a:r>
          </a:p>
        </p:txBody>
      </p:sp>
      <p:sp>
        <p:nvSpPr>
          <p:cNvPr id="222" name="텍스트 222"/>
          <p:cNvSpPr/>
          <p:nvPr/>
        </p:nvSpPr>
        <p:spPr>
          <a:xfrm>
            <a:off x="411480" y="1280160"/>
            <a:ext cx="11384280" cy="123444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noFill/>
          </a:ln>
        </p:spPr>
        <p:txBody>
          <a:bodyPr wrap="square" lIns="228600" tIns="73152" rIns="182880" bIns="73152" rtlCol="0" anchor="ctr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A78D6"/>
                </a:solidFill>
              </a:rPr>
              <a:t>목표</a:t>
            </a:r>
            <a:endParaRPr lang="ko-KR" altLang="en-US" sz="1600" dirty="0"/>
          </a:p>
          <a:p>
            <a:pPr marL="0" indent="0" latinLnBrk="0">
              <a:spcBef>
                <a:spcPts val="400"/>
              </a:spcBef>
              <a:buNone/>
            </a:pPr>
            <a:r>
              <a:rPr lang="ko-KR" altLang="en-US" sz="2000" b="1" dirty="0"/>
              <a:t>계층형 표가 포함된 문서의 </a:t>
            </a:r>
            <a:r>
              <a:rPr lang="ko-KR" altLang="en-US" sz="2000" b="1" dirty="0" err="1"/>
              <a:t>RAG에서</a:t>
            </a:r>
            <a:r>
              <a:rPr lang="ko-KR" altLang="en-US" sz="2000" b="1" dirty="0"/>
              <a:t> 정답 셀 재현율을 크게 낮추지 않으면서,</a:t>
            </a:r>
            <a:br>
              <a:rPr lang="ko-KR" altLang="en-US" sz="2000" dirty="0"/>
            </a:br>
            <a:r>
              <a:rPr lang="ko-KR" altLang="en-US" sz="2000" b="1" dirty="0" err="1"/>
              <a:t>LLM에</a:t>
            </a:r>
            <a:r>
              <a:rPr lang="ko-KR" altLang="en-US" sz="2000" b="1" dirty="0"/>
              <a:t> 전달하는 셀 수를 줄이고 각 셀 값에 </a:t>
            </a:r>
            <a:r>
              <a:rPr lang="ko-KR" altLang="en-US" sz="2000" b="1" dirty="0" err="1"/>
              <a:t>행·열</a:t>
            </a:r>
            <a:r>
              <a:rPr lang="ko-KR" altLang="en-US" sz="2000" b="1" dirty="0"/>
              <a:t> 머리글 경로를 결합하는 검색 단위를 설계함</a:t>
            </a:r>
            <a:endParaRPr lang="ko-KR" altLang="en-US" sz="2000" dirty="0"/>
          </a:p>
        </p:txBody>
      </p:sp>
      <p:sp>
        <p:nvSpPr>
          <p:cNvPr id="223" name="텍스트 개체 틀"/>
          <p:cNvSpPr>
            <a:spLocks noGrp="1"/>
          </p:cNvSpPr>
          <p:nvPr>
            <p:ph type="body" sz="quarter" idx="11"/>
          </p:nvPr>
        </p:nvSpPr>
        <p:spPr>
          <a:xfrm>
            <a:off x="356616" y="2743200"/>
            <a:ext cx="11430000" cy="2377440"/>
          </a:xfrm>
        </p:spPr>
        <p:txBody>
          <a:bodyPr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2000" dirty="0"/>
              <a:t>셀마다 행·열 머리글 경로를 결합한 셀 문장을 검색 단위로 설계</a:t>
            </a:r>
          </a:p>
          <a:p>
            <a:pPr marL="274320" indent="-274320" latinLnBrk="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ko-KR" altLang="en-US" sz="2000" dirty="0"/>
              <a:t>기존 RAG 방법과 검색 성능·답변 정확도 비교</a:t>
            </a:r>
            <a:br>
              <a:rPr lang="ko-KR" altLang="en-US" sz="2000"/>
            </a:br>
            <a:r>
              <a:rPr lang="ko-KR" altLang="en-US" sz="1600" dirty="0">
                <a:solidFill>
                  <a:srgbClr val="595959"/>
                </a:solidFill>
              </a:rPr>
              <a:t>(LangChain 청크, RAPTOR, TableRAG(Chen), TableRAG(Yu))</a:t>
            </a:r>
            <a:endParaRPr lang="ko-KR" altLang="en-US" sz="2000" dirty="0"/>
          </a:p>
          <a:p>
            <a:pPr marL="274320" indent="-274320" latinLnBrk="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ko-KR" altLang="en-US" sz="2000" dirty="0"/>
              <a:t>색인에 머리글 경로를 포함하는지에 따른 검색 성능과 답변 정확도의 차이 검증</a:t>
            </a:r>
          </a:p>
        </p:txBody>
      </p:sp>
      <p:sp>
        <p:nvSpPr>
          <p:cNvPr id="224" name="텍스트 224"/>
          <p:cNvSpPr/>
          <p:nvPr/>
        </p:nvSpPr>
        <p:spPr>
          <a:xfrm>
            <a:off x="411480" y="4892040"/>
            <a:ext cx="11384280" cy="685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noFill/>
          </a:ln>
        </p:spPr>
        <p:txBody>
          <a:bodyPr wrap="square" lIns="228600" tIns="45720" rIns="182880" bIns="45720" rtlCol="0" anchor="ctr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595959"/>
                </a:solidFill>
              </a:rPr>
              <a:t>제약 조건  </a:t>
            </a:r>
            <a:r>
              <a:rPr lang="ko-KR" altLang="en-US" sz="1600" dirty="0"/>
              <a:t>임베딩 모델과 LLM을 학습하지 않고, 외부 API 없이 로컬 환경의 공개 모델만 사용함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7C48F270-C1B5-5057-26A1-39805053DD65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6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279762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41D1-C738-0F4F-1409-CE81C0D7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58A993-CC72-8A7B-25E6-18365D9473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설계 및 구현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79279742-0501-D26A-367F-C83D0BE82D6A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7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376205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0B35E-A1E9-411F-F2EF-25E65C958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2FE4D2-1BC8-EAA1-F026-6A369656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구조 및 구성 요소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D2BEA3-809F-5EE4-4059-54F34C7DE6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>
            <a:normAutofit/>
          </a:bodyPr>
          <a:lstStyle/>
          <a:p>
            <a:endParaRPr lang="en-US" altLang="ko-KR" dirty="0"/>
          </a:p>
        </p:txBody>
      </p:sp>
      <p:pic>
        <p:nvPicPr>
          <p:cNvPr id="225" name="그림 225" descr="fig3_2_syst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88720"/>
            <a:ext cx="10561320" cy="4430738"/>
          </a:xfrm>
          <a:prstGeom prst="rect">
            <a:avLst/>
          </a:prstGeom>
        </p:spPr>
      </p:pic>
      <p:sp>
        <p:nvSpPr>
          <p:cNvPr id="9" name="부제목 2">
            <a:extLst>
              <a:ext uri="{FF2B5EF4-FFF2-40B4-BE49-F238E27FC236}">
                <a16:creationId xmlns:a16="http://schemas.microsoft.com/office/drawing/2014/main" id="{24AF448D-5F76-0DBA-3BCF-39893BAC1A02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8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620599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F07F9-1658-DF28-1C68-5A0C4B687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1C6EEC-367A-27C5-3F72-AF61B19D39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2BEAB458-48C3-CD9B-96B3-5091269D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머리글 경로 구성</a:t>
            </a:r>
          </a:p>
        </p:txBody>
      </p:sp>
      <p:pic>
        <p:nvPicPr>
          <p:cNvPr id="227" name="그림 227" descr="fig3_3_step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5577840" cy="1641172"/>
          </a:xfrm>
          <a:prstGeom prst="rect">
            <a:avLst/>
          </a:prstGeom>
        </p:spPr>
      </p:pic>
      <p:pic>
        <p:nvPicPr>
          <p:cNvPr id="228" name="그림 228" descr="fig3_3_step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188720"/>
            <a:ext cx="5577840" cy="1641172"/>
          </a:xfrm>
          <a:prstGeom prst="rect">
            <a:avLst/>
          </a:prstGeom>
        </p:spPr>
      </p:pic>
      <p:pic>
        <p:nvPicPr>
          <p:cNvPr id="229" name="그림 229" descr="fig3_3_step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031060"/>
            <a:ext cx="5577840" cy="1726985"/>
          </a:xfrm>
          <a:prstGeom prst="rect">
            <a:avLst/>
          </a:prstGeom>
        </p:spPr>
      </p:pic>
      <p:pic>
        <p:nvPicPr>
          <p:cNvPr id="230" name="그림 230" descr="fig3_3_step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031060"/>
            <a:ext cx="5577840" cy="2284769"/>
          </a:xfrm>
          <a:prstGeom prst="rect">
            <a:avLst/>
          </a:prstGeom>
        </p:spPr>
      </p:pic>
      <p:sp>
        <p:nvSpPr>
          <p:cNvPr id="231" name="텍스트 231"/>
          <p:cNvSpPr txBox="1"/>
          <p:nvPr/>
        </p:nvSpPr>
        <p:spPr>
          <a:xfrm>
            <a:off x="365760" y="5425557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MultiHiertt 표에는 머리글 칸 표시(&lt;th&gt;)가 없어, 칸의 글자가 숫자인지로 위쪽·왼쪽 머리글을 판정</a:t>
            </a:r>
          </a:p>
          <a:p>
            <a:pPr marL="274320" indent="-274320" latinLnBrk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HiTab 3,597표에 같은 규칙 적용 시 데이터셋의 머리글 구조와 위쪽 머리글 줄 수 91.1%, 왼쪽 머리글 열 수 91.9% 일치</a:t>
            </a: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EEDEF93A-4400-BB80-8A67-5590F8ED9C85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9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22140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41861-103B-7CE2-3CA9-1F6CA4254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0CE45D-7DF0-7412-8EF0-914D85394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셀 문장 생성</a:t>
            </a:r>
          </a:p>
        </p:txBody>
      </p:sp>
      <p:sp>
        <p:nvSpPr>
          <p:cNvPr id="233" name="텍스트 개체 틀"/>
          <p:cNvSpPr>
            <a:spLocks noGrp="1"/>
          </p:cNvSpPr>
          <p:nvPr>
            <p:ph type="body" sz="quarter" idx="11"/>
          </p:nvPr>
        </p:nvSpPr>
        <p:spPr>
          <a:xfrm>
            <a:off x="356616" y="1143000"/>
            <a:ext cx="11430000" cy="1188720"/>
          </a:xfrm>
        </p:spPr>
        <p:txBody>
          <a:bodyPr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800" b="1" dirty="0"/>
              <a:t>캡션이 없는 표(MultiHiertt):  </a:t>
            </a:r>
            <a:r>
              <a:rPr lang="ko-KR" altLang="en-US" sz="1800" dirty="0">
                <a:latin typeface="Consolas"/>
                <a:cs typeface="Consolas"/>
              </a:rPr>
              <a:t>{행 경로} &gt; {열 경로}: {값}</a:t>
            </a:r>
            <a:endParaRPr lang="ko-KR" altLang="en-US" sz="1800" dirty="0"/>
          </a:p>
          <a:p>
            <a:pPr marL="274320" indent="-274320" latinLnBrk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800" b="1" dirty="0"/>
              <a:t>캡션이 있는 표(HiTab):  </a:t>
            </a:r>
            <a:r>
              <a:rPr lang="ko-KR" altLang="en-US" sz="1500" dirty="0">
                <a:latin typeface="Consolas"/>
                <a:cs typeface="Consolas"/>
              </a:rPr>
              <a:t>In the table '{캡션}', among {행 경로}, the value of {열 경로} is {값}.</a:t>
            </a:r>
            <a:endParaRPr lang="ko-KR" altLang="en-US" sz="1800" dirty="0"/>
          </a:p>
        </p:txBody>
      </p:sp>
      <p:pic>
        <p:nvPicPr>
          <p:cNvPr id="232" name="그림 232" descr="fig3_4_cell_sent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10561320" cy="2549765"/>
          </a:xfrm>
          <a:prstGeom prst="rect">
            <a:avLst/>
          </a:prstGeom>
        </p:spPr>
      </p:pic>
      <p:sp>
        <p:nvSpPr>
          <p:cNvPr id="234" name="텍스트 234"/>
          <p:cNvSpPr txBox="1"/>
          <p:nvPr/>
        </p:nvSpPr>
        <p:spPr>
          <a:xfrm>
            <a:off x="822960" y="5064365"/>
            <a:ext cx="105613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600" dirty="0"/>
              <a:t>셀 1개 = 셀 문장 1개 = 벡터 1개 = 검색 단위 1개 (머리글 칸과 빈 칸은 셀 문장을 만들지 않음)</a:t>
            </a:r>
          </a:p>
          <a:p>
            <a:pPr marL="274320" indent="-274320" latinLnBrk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/>
              <a:t>캡션 효과(HiTab): 표 538개를 한 색인에서 검색할 때 캡션을 추가하면 재현율@20 81.2% → 91.4%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E93C757C-A19D-674A-632B-347582805B2C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10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837604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58FB-72A3-4A10-89BD-96B573A2C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9D4F6-2D20-D236-E920-4E6C5C025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유사도 계산 예시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B2619653-D5E8-905F-AC5F-411ACC0E685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0363" y="1166949"/>
                <a:ext cx="11610975" cy="5010014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=0.7 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𝑚𝑖𝑛𝑚𝑎𝑥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𝑐𝑜𝑠𝑖𝑛𝑒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+0.3 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𝑚𝑖𝑛𝑚𝑎𝑥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𝐵𝑀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25)</m:t>
                      </m:r>
                    </m:oMath>
                  </m:oMathPara>
                </a14:m>
                <a:endParaRPr lang="en-US" altLang="ko-KR" dirty="0"/>
              </a:p>
              <a:p>
                <a:pPr>
                  <a:spcBef>
                    <a:spcPts val="1400"/>
                  </a:spcBef>
                </a:pPr>
                <a:r>
                  <a:rPr lang="ko-KR" altLang="en-US" sz="1600" b="1" dirty="0">
                    <a:solidFill>
                      <a:srgbClr val="0063BA"/>
                    </a:solidFill>
                    <a:ea typeface="맑은 고딕"/>
                    <a:cs typeface="맑은 고딕"/>
                  </a:rPr>
                  <a:t>질문  </a:t>
                </a:r>
                <a:r>
                  <a:rPr lang="en-US" altLang="ko-KR" sz="1600" dirty="0">
                    <a:solidFill>
                      <a:srgbClr val="222222"/>
                    </a:solidFill>
                    <a:latin typeface="Consolas"/>
                    <a:ea typeface="맑은 고딕"/>
                    <a:cs typeface="Consolas"/>
                  </a:rPr>
                  <a:t>What is the sum of Operating revenues in 2011? (in million)</a:t>
                </a:r>
              </a:p>
            </p:txBody>
          </p:sp>
        </mc:Choice>
        <mc:Fallback xmlns="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B2619653-D5E8-905F-AC5F-411ACC0E68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0363" y="1166949"/>
                <a:ext cx="11610975" cy="5010014"/>
              </a:xfrm>
              <a:blipFill>
                <a:blip r:embed="rId3"/>
                <a:stretch>
                  <a:fillRect l="-2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39FFBBD-0768-6DEB-03C6-63ECEF82B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815150"/>
              </p:ext>
            </p:extLst>
          </p:nvPr>
        </p:nvGraphicFramePr>
        <p:xfrm>
          <a:off x="457200" y="3017520"/>
          <a:ext cx="11247120" cy="2514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순위</a:t>
                      </a:r>
                      <a:endParaRPr sz="14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검색된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 셀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문장</a:t>
                      </a:r>
                      <a:endParaRPr sz="14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비고</a:t>
                      </a:r>
                      <a:endParaRPr sz="14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sz="14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Operating revenues &gt; For the Year Ended December 31, &gt; 2011: $10,432</a:t>
                      </a:r>
                      <a:endParaRPr sz="1400" b="0" dirty="0">
                        <a:solidFill>
                          <a:srgbClr val="222222"/>
                        </a:solidFill>
                        <a:latin typeface="Consolas"/>
                        <a:ea typeface="맑은 고딕"/>
                        <a:cs typeface="Consola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</a:rPr>
                        <a:t>정답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 셀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2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Operating income &gt; For the Year Ended December 31, &gt; 2011: 2,083</a:t>
                      </a:r>
                      <a:endParaRPr sz="1400" b="0" dirty="0">
                        <a:solidFill>
                          <a:srgbClr val="222222"/>
                        </a:solidFill>
                        <a:latin typeface="Consolas"/>
                        <a:ea typeface="맑은 고딕"/>
                        <a:cs typeface="Consola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연도만 일치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3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Operating revenues &gt; For the Year Ended December 31, &gt; 2012: $10,187</a:t>
                      </a:r>
                      <a:endParaRPr sz="1400" b="0" dirty="0">
                        <a:solidFill>
                          <a:srgbClr val="222222"/>
                        </a:solidFill>
                        <a:latin typeface="Consolas"/>
                        <a:ea typeface="맑은 고딕"/>
                        <a:cs typeface="Consola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항목만 일치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Operating revenues &gt; For the Year Ended December 31, &gt; 2013: $10,430</a:t>
                      </a:r>
                      <a:endParaRPr sz="1400" b="0" dirty="0">
                        <a:solidFill>
                          <a:srgbClr val="222222"/>
                        </a:solidFill>
                        <a:latin typeface="Consolas"/>
                        <a:ea typeface="맑은 고딕"/>
                        <a:cs typeface="Consola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</a:rPr>
                        <a:t>항목만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</a:rPr>
                        <a:t>일치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C4396DC-8856-AA07-EADA-128B2505DFAA}"/>
              </a:ext>
            </a:extLst>
          </p:cNvPr>
          <p:cNvSpPr txBox="1"/>
          <p:nvPr/>
        </p:nvSpPr>
        <p:spPr>
          <a:xfrm>
            <a:off x="457200" y="5669280"/>
            <a:ext cx="11247120" cy="286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dirty="0" err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상위</a:t>
            </a:r>
            <a:r>
              <a:rPr sz="1500" b="1" dirty="0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 20개 셀 </a:t>
            </a:r>
            <a:r>
              <a:rPr sz="1500" b="1" dirty="0" err="1">
                <a:solidFill>
                  <a:srgbClr val="0063BA"/>
                </a:solidFill>
                <a:latin typeface="맑은 고딕"/>
                <a:ea typeface="맑은 고딕"/>
                <a:cs typeface="맑은 고딕"/>
              </a:rPr>
              <a:t>문장</a:t>
            </a:r>
            <a:r>
              <a:rPr sz="15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을</a:t>
            </a:r>
            <a:r>
              <a:rPr sz="15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LLM에</a:t>
            </a:r>
            <a:r>
              <a:rPr sz="15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전달</a:t>
            </a:r>
            <a:r>
              <a:rPr sz="15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 ·  </a:t>
            </a:r>
            <a:r>
              <a:rPr sz="15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생성된</a:t>
            </a:r>
            <a:r>
              <a:rPr sz="15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 답 10,432 (</a:t>
            </a:r>
            <a:r>
              <a:rPr sz="1500" b="0" dirty="0" err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정답</a:t>
            </a:r>
            <a:r>
              <a:rPr sz="1500" b="0" dirty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)  </a:t>
            </a: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FFA467A4-6312-3A2F-A4A8-E4912DB41AB0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832736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20955-3D00-5BF5-E188-E9DAF63D2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E3BEDD-1104-68D7-1A9D-FFF500803A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실험 및 평가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25583411-0F55-A960-68F8-076ADCD56D35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384968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15F88-EA65-890B-558E-BBDD324B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7FD28-D05E-0BB6-F7B5-B58205580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환경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4541D5-946C-AF90-6C40-BF00B102F9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363" y="1166949"/>
            <a:ext cx="11610975" cy="5010014"/>
          </a:xfrm>
        </p:spPr>
        <p:txBody>
          <a:bodyPr>
            <a:normAutofit/>
          </a:bodyPr>
          <a:lstStyle/>
          <a:p>
            <a:endParaRPr lang="en-US" altLang="ko-KR"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E09E28B7-97FB-C412-D79A-C0C95D1BA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646349"/>
              </p:ext>
            </p:extLst>
          </p:nvPr>
        </p:nvGraphicFramePr>
        <p:xfrm>
          <a:off x="457200" y="1463040"/>
          <a:ext cx="5486400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sz="15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  <a:endParaRPr sz="15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Intel Core i5-12400F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NVIDIA GeForce RTX 3060 Ti (8GB)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메모리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8GB (WSL2 할당)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운영체제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Ubuntu 24.04.4 LTS (WSL2)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 3.12.3,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PyTorch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2.12.1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907C7DE7-56A4-84F7-ED18-A5092891C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509103"/>
              </p:ext>
            </p:extLst>
          </p:nvPr>
        </p:nvGraphicFramePr>
        <p:xfrm>
          <a:off x="6263640" y="1463040"/>
          <a:ext cx="5486400" cy="2267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dirty="0" err="1"/>
                        <a:t>용도</a:t>
                      </a:r>
                      <a:endParaRPr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 err="1"/>
                        <a:t>모델</a:t>
                      </a:r>
                      <a:endParaRPr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dirty="0">
                          <a:solidFill>
                            <a:srgbClr val="222222"/>
                          </a:solidFill>
                        </a:rPr>
                        <a:t>BAAI/bge-base-en-v1.5</a:t>
                      </a:r>
                      <a:br>
                        <a:rPr lang="ko-KR" altLang="en-US" sz="1500"/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(768차원, 학습하지 않음)</a:t>
                      </a:r>
                      <a:endParaRPr lang="ko-KR" altLang="en-US" sz="15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dirty="0">
                          <a:solidFill>
                            <a:srgbClr val="222222"/>
                          </a:solidFill>
                        </a:rPr>
                        <a:t>Qwen3-8B, NF4 4비트 양자화, 그리디 디코딩</a:t>
                      </a:r>
                      <a:endParaRPr lang="ko-KR" altLang="en-US" sz="1500" dirty="0"/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재정렬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dirty="0">
                          <a:solidFill>
                            <a:srgbClr val="222222"/>
                          </a:solidFill>
                        </a:rPr>
                        <a:t>BAAI/bge-reranker-v2-m3</a:t>
                      </a:r>
                      <a:br>
                        <a:rPr lang="ko-KR" altLang="en-US" sz="1500"/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(TableRAG(Yu) 비교군에서만 사용)</a:t>
                      </a:r>
                      <a:endParaRPr lang="ko-KR" altLang="en-US" sz="15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부제목 2">
            <a:extLst>
              <a:ext uri="{FF2B5EF4-FFF2-40B4-BE49-F238E27FC236}">
                <a16:creationId xmlns:a16="http://schemas.microsoft.com/office/drawing/2014/main" id="{10241FED-E1F7-6EFF-EE76-8FDF977DC0E4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13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970117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46F48-51A9-6865-1B0E-12783E4F8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A9C73E-F9C7-E085-3411-063D73190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방법</a:t>
            </a:r>
          </a:p>
        </p:txBody>
      </p:sp>
      <p:sp>
        <p:nvSpPr>
          <p:cNvPr id="235" name="텍스트 개체 틀"/>
          <p:cNvSpPr>
            <a:spLocks noGrp="1"/>
          </p:cNvSpPr>
          <p:nvPr>
            <p:ph type="body" sz="quarter" idx="11"/>
          </p:nvPr>
        </p:nvSpPr>
        <p:spPr>
          <a:xfrm>
            <a:off x="356616" y="1143000"/>
            <a:ext cx="11430000" cy="1554480"/>
          </a:xfrm>
        </p:spPr>
        <p:txBody>
          <a:bodyPr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800" b="1" dirty="0"/>
              <a:t>데이터셋: </a:t>
            </a:r>
            <a:r>
              <a:rPr lang="ko-KR" altLang="en-US" sz="1800" dirty="0"/>
              <a:t>MultiHiertt(재무 보고서 질의응답) — 문서당 평균 표 4.05개, 데이터 셀 145.7개</a:t>
            </a:r>
          </a:p>
          <a:p>
            <a:pPr marL="685800" indent="-274320" latinLnBrk="0">
              <a:spcBef>
                <a:spcPts val="400"/>
              </a:spcBef>
              <a:buFontTx/>
              <a:buChar char="-"/>
            </a:pPr>
            <a:r>
              <a:rPr lang="ko-KR" altLang="en-US" sz="1600" dirty="0"/>
              <a:t>검색 성능: 2,885문항  /  답변 정확도: 200문항(조회 116개, 산술 84개)</a:t>
            </a:r>
          </a:p>
          <a:p>
            <a:pPr marL="274320" indent="-274320" latinLnBrk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sz="1800" b="1" dirty="0"/>
              <a:t>비교군: </a:t>
            </a:r>
            <a:r>
              <a:rPr lang="ko-KR" altLang="en-US" sz="1800" dirty="0"/>
              <a:t>모든 방법에 같은 LLM·임베딩 모델, 검색 범위는 질문이 속한 문서</a:t>
            </a:r>
          </a:p>
        </p:txBody>
      </p:sp>
      <p:graphicFrame>
        <p:nvGraphicFramePr>
          <p:cNvPr id="236" name="표 236"/>
          <p:cNvGraphicFramePr>
            <a:graphicFrameLocks noGrp="1"/>
          </p:cNvGraphicFramePr>
          <p:nvPr/>
        </p:nvGraphicFramePr>
        <p:xfrm>
          <a:off x="411480" y="2606040"/>
          <a:ext cx="1138428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비교군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단위와 LLM 입력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LangChain 청크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1,000자(겹침 200자) 청크, 상위 4개 청크를 입력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RAPTOR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100토큰 잎 청크와 요약 노드의 트리 검색, 2,000토큰까지 입력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TableRAG(Chen)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질의 확장, 스키마·셀 검색, 파이썬 코드 실행(최대 5회)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TableRAG(Yu)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질의 분해, 청크 검색과 재정렬, SQL 실행(최대 5회)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 전체 입력(참고)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5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없이 문서의 표 전체를 마크다운으로 입력(답변 정확도만 평가)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7" name="텍스트 237"/>
          <p:cNvSpPr txBox="1"/>
          <p:nvPr/>
        </p:nvSpPr>
        <p:spPr>
          <a:xfrm>
            <a:off x="411480" y="5440680"/>
            <a:ext cx="11384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595959"/>
                </a:solidFill>
              </a:rPr>
              <a:t>TableRAG(Chen)·TableRAG(Yu): 이름이 같은 Chen 등(NeurIPS 2024)과 Yu 등(EMNLP 2025)의 방법을 제1저자로 구분</a:t>
            </a:r>
            <a:endParaRPr lang="ko-KR" altLang="en-US" sz="1200" dirty="0"/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4D8DAFA8-B0EF-35DB-CDE1-4E9495C872ED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9025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7220E-CE69-AA75-3974-7983893A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9DE3EB-0838-1FAC-0118-C14EF5DC2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 지표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A0418F67-E777-02AA-8B5B-F629B28B71CE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0363" y="1166948"/>
                <a:ext cx="11610975" cy="5434573"/>
              </a:xfrm>
            </p:spPr>
            <p:txBody>
              <a:bodyPr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1900" dirty="0"/>
                  <a:t>검색 성능 지표 (k = 검색 단위 수)</a:t>
                </a:r>
                <a:endParaRPr lang="en-US" altLang="ko-KR" sz="19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900" dirty="0"/>
              </a:p>
              <a:p>
                <a:pPr marL="1028700" lvl="1" indent="-342900"/>
                <a:r>
                  <a:rPr lang="en-US" altLang="ko-KR" sz="1900" dirty="0"/>
                  <a:t>Recall</a:t>
                </a:r>
                <a:r>
                  <a:rPr lang="ko-KR" altLang="en-US" sz="1900" dirty="0"/>
                  <a:t>@k: 정답 셀 중 상위 k개 단위에 포함된 비율</a:t>
                </a:r>
                <a:endParaRPr lang="en-US" altLang="ko-KR" sz="19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9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9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ko-KR" sz="1900" dirty="0"/>
              </a:p>
              <a:p>
                <a:endParaRPr lang="en-US" altLang="ko-KR" sz="1900" dirty="0"/>
              </a:p>
              <a:p>
                <a:pPr marL="1028700" lvl="1" indent="-342900"/>
                <a:r>
                  <a:rPr lang="en-US" altLang="ko-KR" sz="1900" dirty="0"/>
                  <a:t>Precision</a:t>
                </a:r>
                <a:r>
                  <a:rPr lang="ko-KR" altLang="en-US" sz="1900" dirty="0"/>
                  <a:t>@k: 상위 k개 단위 중 정답 셀을 하나 이상 포함한 단위의 비율</a:t>
                </a:r>
              </a:p>
              <a:p>
                <a:endParaRPr lang="en-US" altLang="ko-KR" sz="19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900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US" altLang="ko-KR" sz="1900" b="0" i="1" smtClean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ko-KR" sz="19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9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9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sz="19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  <m:e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</a:rPr>
                                    <m:t>1(</m:t>
                                  </m:r>
                                  <m:sSub>
                                    <m:sSubPr>
                                      <m:ctrlP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∩</m:t>
                                  </m:r>
                                  <m:sSub>
                                    <m:sSubPr>
                                      <m:ctrlP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ko-KR" sz="19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≠∅)</m:t>
                                  </m:r>
                                </m:e>
                              </m:nary>
                            </m:num>
                            <m:den>
                              <m:r>
                                <a:rPr lang="en-US" altLang="ko-KR" sz="19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ko-KR" sz="1900" dirty="0"/>
              </a:p>
              <a:p>
                <a:endParaRPr lang="en-US" altLang="ko-KR" sz="1900" dirty="0"/>
              </a:p>
              <a:p>
                <a:pPr marL="1028700" lvl="1" indent="-342900"/>
                <a:r>
                  <a:rPr lang="en-US" altLang="ko-KR" sz="1900" dirty="0" err="1"/>
                  <a:t>CellPrecision</a:t>
                </a:r>
                <a:r>
                  <a:rPr lang="ko-KR" altLang="en-US" sz="1900" dirty="0"/>
                  <a:t>@k: 상위 k개 단위에 포함된 셀 중 정답 셀의 비율</a:t>
                </a:r>
                <a:endParaRPr lang="en-US" altLang="ko-KR" sz="1900" dirty="0"/>
              </a:p>
              <a:p>
                <a:pPr marL="1028700" lvl="1" indent="-342900"/>
                <a:endParaRPr lang="en-US" altLang="ko-KR" sz="1900" dirty="0"/>
              </a:p>
              <a:p>
                <a:pPr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ko-KR" sz="1900" i="1" dirty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ko-KR" sz="1900" i="1" dirty="0">
                          <a:latin typeface="Cambria Math" panose="02040503050406030204" pitchFamily="18" charset="0"/>
                        </a:rPr>
                        <m:t>𝑒𝑙𝑙𝑃𝑟𝑒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𝑐𝑖𝑠𝑖𝑜𝑛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9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9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9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9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ko-KR" sz="19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ko-KR" sz="1900" dirty="0"/>
              </a:p>
              <a:p>
                <a:pPr marL="1028700" lvl="1" indent="-342900"/>
                <a:endParaRPr lang="en-US" altLang="ko-KR" sz="1900" dirty="0"/>
              </a:p>
            </p:txBody>
          </p:sp>
        </mc:Choice>
        <mc:Fallback>
          <p:sp>
            <p:nvSpPr>
              <p:cNvPr id="4" name="텍스트 개체 틀 3">
                <a:extLst>
                  <a:ext uri="{FF2B5EF4-FFF2-40B4-BE49-F238E27FC236}">
                    <a16:creationId xmlns:a16="http://schemas.microsoft.com/office/drawing/2014/main" id="{A0418F67-E777-02AA-8B5B-F629B28B71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0363" y="1166948"/>
                <a:ext cx="11610975" cy="5434573"/>
              </a:xfrm>
              <a:blipFill>
                <a:blip r:embed="rId3"/>
                <a:stretch>
                  <a:fillRect l="-367" t="-11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43DEE4-E817-90B3-C4D8-FA646AD28AAD}"/>
                  </a:ext>
                </a:extLst>
              </p:cNvPr>
              <p:cNvSpPr txBox="1"/>
              <p:nvPr/>
            </p:nvSpPr>
            <p:spPr>
              <a:xfrm>
                <a:off x="8173293" y="998136"/>
                <a:ext cx="4131248" cy="2117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en-US" altLang="ko-KR" sz="1600" i="1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문항 수</a:t>
                </a:r>
                <a:endParaRPr lang="en-US" altLang="ko-KR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：문</m:t>
                      </m:r>
                      <m:r>
                        <m:rPr>
                          <m:nor/>
                        </m:rPr>
                        <a:rPr lang="ko-KR" altLang="en-US" sz="1600" i="0" dirty="0"/>
                        <m:t>항 </m:t>
                      </m:r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ko-KR" altLang="en-US" sz="1600" i="1" dirty="0">
                          <a:latin typeface="Cambria Math" panose="02040503050406030204" pitchFamily="18" charset="0"/>
                        </a:rPr>
                        <m:t>의</m:t>
                      </m:r>
                      <m:r>
                        <m:rPr>
                          <m:nor/>
                        </m:rPr>
                        <a:rPr lang="en-US" altLang="ko-KR" sz="1600" i="0" dirty="0"/>
                        <m:t> </m:t>
                      </m:r>
                      <m:r>
                        <m:rPr>
                          <m:nor/>
                        </m:rPr>
                        <a:rPr lang="ko-KR" altLang="en-US" sz="1600" i="0" dirty="0"/>
                        <m:t>정답 셀 집합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：상</m:t>
                      </m:r>
                      <m:r>
                        <m:rPr>
                          <m:nor/>
                        </m:rPr>
                        <a:rPr lang="ko-KR" altLang="en-US" sz="1600" i="0" dirty="0"/>
                        <m:t>위 </m:t>
                      </m:r>
                      <m:r>
                        <a:rPr lang="en-US" altLang="ko-KR" sz="160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600" dirty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ko-KR" altLang="en-US" sz="1600" i="1" dirty="0">
                          <a:latin typeface="Cambria Math" panose="02040503050406030204" pitchFamily="18" charset="0"/>
                        </a:rPr>
                        <m:t>개</m:t>
                      </m:r>
                      <m:r>
                        <m:rPr>
                          <m:nor/>
                        </m:rPr>
                        <a:rPr lang="en-US" altLang="ko-KR" sz="1600" i="0" dirty="0"/>
                        <m:t> </m:t>
                      </m:r>
                      <m:r>
                        <m:rPr>
                          <m:nor/>
                        </m:rPr>
                        <a:rPr lang="ko-KR" altLang="en-US" sz="1600" i="0" dirty="0"/>
                        <m:t>검색 단위에 포함된 셀 집합</m:t>
                      </m:r>
                    </m:oMath>
                  </m:oMathPara>
                </a14:m>
                <a:endParaRPr lang="en-US" altLang="ko-KR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 : </m:t>
                    </m:r>
                  </m:oMath>
                </a14:m>
                <a:r>
                  <a:rPr lang="ko-KR" altLang="en-US" sz="1600" dirty="0"/>
                  <a:t>문항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반환된 검색 단위 수</a:t>
                </a:r>
                <a:endParaRPr lang="en-US" altLang="ko-KR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altLang="ko-KR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번</m:t>
                    </m:r>
                  </m:oMath>
                </a14:m>
                <a:r>
                  <a:rPr lang="ko-KR" altLang="en-US" sz="1600" dirty="0"/>
                  <a:t>째 검색 단위에 포함된 셀 집합</a:t>
                </a:r>
                <a:endParaRPr lang="en-US" altLang="ko-KR" sz="1600" dirty="0"/>
              </a:p>
              <a:p>
                <a:endParaRPr lang="en-US" altLang="ko-KR" sz="1600" dirty="0"/>
              </a:p>
              <a:p>
                <a:r>
                  <a:rPr lang="en-US" altLang="ko-KR" sz="1600" dirty="0"/>
                  <a:t>1(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∙)</m:t>
                    </m:r>
                    <m:r>
                      <a:rPr lang="ko-KR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조건이 참이면 </a:t>
                </a:r>
                <a:r>
                  <a:rPr lang="en-US" altLang="ko-KR" sz="1600" dirty="0"/>
                  <a:t>1, </a:t>
                </a:r>
                <a:r>
                  <a:rPr lang="ko-KR" altLang="en-US" sz="1600" dirty="0"/>
                  <a:t>거짓이면 </a:t>
                </a:r>
                <a:r>
                  <a:rPr lang="en-US" altLang="ko-KR" sz="1600" dirty="0"/>
                  <a:t>0</a:t>
                </a:r>
              </a:p>
              <a:p>
                <a:endParaRPr lang="ko-KR" alt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43DEE4-E817-90B3-C4D8-FA646AD28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93" y="998136"/>
                <a:ext cx="4131248" cy="2117759"/>
              </a:xfrm>
              <a:prstGeom prst="rect">
                <a:avLst/>
              </a:prstGeom>
              <a:blipFill>
                <a:blip r:embed="rId4"/>
                <a:stretch>
                  <a:fillRect l="-886" t="-1153" b="-31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8" name="텍스트 238"/>
          <p:cNvSpPr txBox="1"/>
          <p:nvPr/>
        </p:nvSpPr>
        <p:spPr>
          <a:xfrm>
            <a:off x="473710" y="6536635"/>
            <a:ext cx="11384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400" b="1" dirty="0"/>
              <a:t>답변 정확도: </a:t>
            </a:r>
            <a:r>
              <a:rPr lang="ko-KR" altLang="en-US" sz="1400" dirty="0"/>
              <a:t>LLM의 답이 정답과 일치하는 문항의 비율(200문항). 방법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D1B01304-2996-C0BF-E037-B5B31558B521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20FD265C-27B1-4001-B034-699E1D9D45B3}"/>
              </a:ext>
            </a:extLst>
          </p:cNvPr>
          <p:cNvSpPr txBox="1">
            <a:spLocks/>
          </p:cNvSpPr>
          <p:nvPr/>
        </p:nvSpPr>
        <p:spPr>
          <a:xfrm>
            <a:off x="1676400" y="65651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15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282069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0D1ED-17E4-C25D-BEE9-5858CCE0E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D4034-DC6B-933A-4A1D-62DE15D53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E9E207-87EF-836A-EC4B-5962461004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663" y="1175658"/>
            <a:ext cx="11610975" cy="5010014"/>
          </a:xfrm>
        </p:spPr>
        <p:txBody>
          <a:bodyPr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800" b="1" dirty="0"/>
              <a:t>검색 성능 (</a:t>
            </a:r>
            <a:r>
              <a:rPr lang="ko-KR" altLang="en-US" sz="1800" b="1" dirty="0" err="1"/>
              <a:t>R@k</a:t>
            </a:r>
            <a:r>
              <a:rPr lang="ko-KR" altLang="en-US" sz="1800" b="1" dirty="0"/>
              <a:t>: 재현율@k, P@k: 정밀도@k, k = 검색 단위 수, 단위: %)</a:t>
            </a:r>
            <a:endParaRPr lang="ko-KR" altLang="en-US" sz="18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1ACC075-DB5C-0471-E136-2A894CC4D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848065"/>
              </p:ext>
            </p:extLst>
          </p:nvPr>
        </p:nvGraphicFramePr>
        <p:xfrm>
          <a:off x="1553578" y="2490629"/>
          <a:ext cx="9084844" cy="238007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4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56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48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dirty="0"/>
                        <a:t>방법</a:t>
                      </a:r>
                      <a:endParaRPr lang="ko-KR" altLang="en-US" sz="1400" dirty="0"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R@1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R@5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R@10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R@20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P@1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P@5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P@10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P@20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단위당 </a:t>
                      </a:r>
                      <a:endParaRPr lang="en-US" altLang="ko-KR" sz="1400" b="1" kern="0" spc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셀 수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01854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400" kern="0" spc="0" dirty="0">
                          <a:solidFill>
                            <a:srgbClr val="000000"/>
                          </a:solidFill>
                          <a:effectLst/>
                        </a:rPr>
                        <a:t>제안 방법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32.3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73.4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87.0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93.9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58.5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32.7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19.8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11.0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1.0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95591090"/>
                  </a:ext>
                </a:extLst>
              </a:tr>
              <a:tr h="3553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LangChain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청크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76.8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81.0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22.8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11.5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5.8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37.5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63721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RAPTOR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37.0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68.4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79.9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81.7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43.5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21.6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14.0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7.9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13.3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53580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(Chen)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2.0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9.6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15.3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17.7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4.0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4.2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3.3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1.9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0.5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8657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(Yu)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82.8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100.0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87.0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23.2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11.6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5.8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30.6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25845121"/>
                  </a:ext>
                </a:extLst>
              </a:tr>
            </a:tbl>
          </a:graphicData>
        </a:graphic>
      </p:graphicFrame>
      <p:sp>
        <p:nvSpPr>
          <p:cNvPr id="239" name="텍스트 239"/>
          <p:cNvSpPr txBox="1"/>
          <p:nvPr/>
        </p:nvSpPr>
        <p:spPr>
          <a:xfrm>
            <a:off x="1554480" y="5074920"/>
            <a:ext cx="90982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LangChain 청크·TableRAG(Yu): 단위 하나가 30셀 이상, 문서당 4~5개 청크 → 상위 5개가 사실상 표 전체</a:t>
            </a:r>
          </a:p>
          <a:p>
            <a:pPr marL="274320" indent="-27432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제안 방법: 단위가 셀 1개라 정답 셀이 2개 이상이면 R@1이 100%가 될 수 없음(200문항 최대 58.6%)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CAF8BA9-FC7B-8808-83E5-768D4D648B9E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16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28651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91E07-DCC3-61EC-FE30-B3468863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30F9A-C68C-63A6-A0B9-B5CA4E997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2CAC8E-AA1B-37B4-8639-E557420A2A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663" y="1175658"/>
            <a:ext cx="11610975" cy="5010014"/>
          </a:xfrm>
        </p:spPr>
        <p:txBody>
          <a:bodyPr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800" b="1" dirty="0"/>
              <a:t>셀 정밀도 (200문항, 셀P@k: 셀 정밀도@k, k = 검색 단위 수, 단위: %)</a:t>
            </a:r>
            <a:endParaRPr lang="ko-KR" altLang="en-US" sz="18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DEBAC12-E7CF-22A9-01B4-2EBBD2216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400901"/>
              </p:ext>
            </p:extLst>
          </p:nvPr>
        </p:nvGraphicFramePr>
        <p:xfrm>
          <a:off x="3606006" y="2316480"/>
          <a:ext cx="4979988" cy="22250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70088">
                  <a:extLst>
                    <a:ext uri="{9D8B030D-6E8A-4147-A177-3AD203B41FA5}">
                      <a16:colId xmlns:a16="http://schemas.microsoft.com/office/drawing/2014/main" val="1674298485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175640846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924593569"/>
                    </a:ext>
                  </a:extLst>
                </a:gridCol>
                <a:gridCol w="811212">
                  <a:extLst>
                    <a:ext uri="{9D8B030D-6E8A-4147-A177-3AD203B41FA5}">
                      <a16:colId xmlns:a16="http://schemas.microsoft.com/office/drawing/2014/main" val="618361001"/>
                    </a:ext>
                  </a:extLst>
                </a:gridCol>
                <a:gridCol w="811212">
                  <a:extLst>
                    <a:ext uri="{9D8B030D-6E8A-4147-A177-3AD203B41FA5}">
                      <a16:colId xmlns:a16="http://schemas.microsoft.com/office/drawing/2014/main" val="426165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dirty="0"/>
                        <a:t>방법</a:t>
                      </a:r>
                      <a:endParaRPr lang="ko-KR" altLang="en-US" sz="1400" dirty="0"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셀P@1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셀P@5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셀P@10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chemeClr val="bg1"/>
                          </a:solidFill>
                          <a:effectLst/>
                        </a:rPr>
                        <a:t>셀P@20</a:t>
                      </a:r>
                      <a:endParaRPr lang="ko-KR" sz="14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3047432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400" kern="0" spc="0" dirty="0">
                          <a:solidFill>
                            <a:srgbClr val="000000"/>
                          </a:solidFill>
                          <a:effectLst/>
                        </a:rPr>
                        <a:t>제안 방법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58.5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32.7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19.8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11.0</a:t>
                      </a:r>
                      <a:endParaRPr lang="ko-KR" sz="14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51220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LangChain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청크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4.6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2.0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1.9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1.9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298953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RAPTOR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8.3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3.3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2.2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2.0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205322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(Chen)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3.8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4.4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5.3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4.4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2478339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(Yu)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5.6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2.0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</a:rPr>
                        <a:t>1.9</a:t>
                      </a:r>
                      <a:endParaRPr lang="ko-KR" sz="14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</a:rPr>
                        <a:t>1.9</a:t>
                      </a:r>
                      <a:endParaRPr lang="ko-KR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74793021"/>
                  </a:ext>
                </a:extLst>
              </a:tr>
            </a:tbl>
          </a:graphicData>
        </a:graphic>
      </p:graphicFrame>
      <p:sp>
        <p:nvSpPr>
          <p:cNvPr id="240" name="텍스트 240"/>
          <p:cNvSpPr txBox="1"/>
          <p:nvPr/>
        </p:nvSpPr>
        <p:spPr>
          <a:xfrm>
            <a:off x="1554480" y="4800600"/>
            <a:ext cx="90982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셀 정밀도: 전달된 셀 가운데 정답 셀의 비율</a:t>
            </a:r>
          </a:p>
          <a:p>
            <a:pPr marL="274320" indent="-27432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LangChain 청크 상위 4개: 문항당 126.8셀 전달, 셀 정밀도 2.0%</a:t>
            </a:r>
          </a:p>
          <a:p>
            <a:pPr marL="274320" indent="-27432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제안 방법: 20셀 전달, 셀 정밀도 11.0% (정답 셀이 문항당 평균 2.37개이므로 최대 11.9%)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2B196878-12D6-BB8A-297A-0334831F6190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17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36118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9806-63D9-8C24-F59F-9A22B7E3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90608-A20B-030D-08BB-3D2A4FB9F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E5B126-4054-18D4-8C4C-FB81FC796E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663" y="1175658"/>
            <a:ext cx="11610975" cy="5010014"/>
          </a:xfrm>
        </p:spPr>
        <p:txBody>
          <a:bodyPr>
            <a:noAutofit/>
          </a:bodyPr>
          <a:lstStyle/>
          <a:p>
            <a:pPr marL="0" indent="0" latinLnBrk="0">
              <a:spcBef>
                <a:spcPts val="0"/>
              </a:spcBef>
              <a:buNone/>
            </a:pPr>
            <a:r>
              <a:rPr lang="ko-KR" altLang="en-US" sz="1800" b="1" dirty="0"/>
              <a:t>답변 정확도 (200문항)</a:t>
            </a:r>
            <a:endParaRPr lang="ko-KR" altLang="en-US" sz="18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DB2F5F1-E71A-ABE0-5D07-A3E96A293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322279"/>
              </p:ext>
            </p:extLst>
          </p:nvPr>
        </p:nvGraphicFramePr>
        <p:xfrm>
          <a:off x="677162" y="2013857"/>
          <a:ext cx="10837675" cy="251824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11338">
                  <a:extLst>
                    <a:ext uri="{9D8B030D-6E8A-4147-A177-3AD203B41FA5}">
                      <a16:colId xmlns:a16="http://schemas.microsoft.com/office/drawing/2014/main" val="1618542451"/>
                    </a:ext>
                  </a:extLst>
                </a:gridCol>
                <a:gridCol w="1177925">
                  <a:extLst>
                    <a:ext uri="{9D8B030D-6E8A-4147-A177-3AD203B41FA5}">
                      <a16:colId xmlns:a16="http://schemas.microsoft.com/office/drawing/2014/main" val="3846550090"/>
                    </a:ext>
                  </a:extLst>
                </a:gridCol>
                <a:gridCol w="1655762">
                  <a:extLst>
                    <a:ext uri="{9D8B030D-6E8A-4147-A177-3AD203B41FA5}">
                      <a16:colId xmlns:a16="http://schemas.microsoft.com/office/drawing/2014/main" val="1538482187"/>
                    </a:ext>
                  </a:extLst>
                </a:gridCol>
                <a:gridCol w="1177925">
                  <a:extLst>
                    <a:ext uri="{9D8B030D-6E8A-4147-A177-3AD203B41FA5}">
                      <a16:colId xmlns:a16="http://schemas.microsoft.com/office/drawing/2014/main" val="2791946767"/>
                    </a:ext>
                  </a:extLst>
                </a:gridCol>
                <a:gridCol w="1655762">
                  <a:extLst>
                    <a:ext uri="{9D8B030D-6E8A-4147-A177-3AD203B41FA5}">
                      <a16:colId xmlns:a16="http://schemas.microsoft.com/office/drawing/2014/main" val="1452308413"/>
                    </a:ext>
                  </a:extLst>
                </a:gridCol>
                <a:gridCol w="803275">
                  <a:extLst>
                    <a:ext uri="{9D8B030D-6E8A-4147-A177-3AD203B41FA5}">
                      <a16:colId xmlns:a16="http://schemas.microsoft.com/office/drawing/2014/main" val="1940572441"/>
                    </a:ext>
                  </a:extLst>
                </a:gridCol>
                <a:gridCol w="1055688">
                  <a:extLst>
                    <a:ext uri="{9D8B030D-6E8A-4147-A177-3AD203B41FA5}">
                      <a16:colId xmlns:a16="http://schemas.microsoft.com/office/drawing/2014/main" val="2573040266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방법</a:t>
                      </a:r>
                      <a:endParaRPr lang="ko-KR" sz="16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조회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셀 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개</a:t>
                      </a:r>
                      <a:endParaRPr lang="ko-KR" sz="1600" kern="0" spc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조회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셀 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개 이상</a:t>
                      </a:r>
                      <a:endParaRPr lang="ko-KR" sz="1600" kern="0" spc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산술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셀 </a:t>
                      </a:r>
                      <a:r>
                        <a:rPr lang="en-US" sz="1600" b="1" kern="0" spc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ko-KR" sz="1600" b="1" kern="0" spc="0">
                          <a:solidFill>
                            <a:schemeClr val="bg1"/>
                          </a:solidFill>
                          <a:effectLst/>
                        </a:rPr>
                        <a:t>개</a:t>
                      </a:r>
                      <a:endParaRPr lang="ko-KR" sz="1600" kern="0" spc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산술</a:t>
                      </a:r>
                      <a:r>
                        <a:rPr lang="en-US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셀 </a:t>
                      </a:r>
                      <a:r>
                        <a:rPr lang="en-US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개 이상</a:t>
                      </a:r>
                      <a:endParaRPr lang="ko-KR" sz="16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맞힌 수</a:t>
                      </a:r>
                      <a:endParaRPr lang="ko-KR" sz="16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정확도</a:t>
                      </a:r>
                      <a:r>
                        <a:rPr lang="en-US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(%)</a:t>
                      </a:r>
                      <a:endParaRPr lang="ko-KR" sz="16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b="1" kern="0" spc="0" dirty="0">
                          <a:solidFill>
                            <a:schemeClr val="bg1"/>
                          </a:solidFill>
                          <a:effectLst/>
                        </a:rPr>
                        <a:t>공식 채점 (%)</a:t>
                      </a:r>
                      <a:endParaRPr lang="ko-KR" sz="16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1801854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kern="0" spc="0" dirty="0">
                          <a:solidFill>
                            <a:srgbClr val="000000"/>
                          </a:solidFill>
                          <a:effectLst/>
                        </a:rPr>
                        <a:t>제안 방법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32/49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41/67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9/14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33/70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115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b="1" kern="0" spc="0" dirty="0">
                          <a:solidFill>
                            <a:srgbClr val="000000"/>
                          </a:solidFill>
                          <a:effectLst/>
                        </a:rPr>
                        <a:t>57.5</a:t>
                      </a:r>
                      <a:endParaRPr lang="ko-KR" sz="1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93 (46.5)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2395591090"/>
                  </a:ext>
                </a:extLst>
              </a:tr>
              <a:tr h="3553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LangChain </a:t>
                      </a:r>
                      <a:r>
                        <a:rPr lang="ko-KR" sz="1600" kern="0" spc="0">
                          <a:solidFill>
                            <a:srgbClr val="000000"/>
                          </a:solidFill>
                          <a:effectLst/>
                        </a:rPr>
                        <a:t>청크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28/49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23/67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9/14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19/70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79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39.5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60 (30.0)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2763721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RAPTOR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20/49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29/67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5/14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23/70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77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38.5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57 (28.5)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4153580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(Chen)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10/49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10/67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1/14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6/70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27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13.5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19 (9.5)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1688657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 err="1">
                          <a:solidFill>
                            <a:srgbClr val="000000"/>
                          </a:solidFill>
                          <a:effectLst/>
                        </a:rPr>
                        <a:t>TableRAG</a:t>
                      </a: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(Yu)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30/49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41/67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9/14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27/70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107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53.5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81 (40.5)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3425845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ko-KR" sz="1600" kern="0" spc="0" dirty="0">
                          <a:solidFill>
                            <a:srgbClr val="000000"/>
                          </a:solidFill>
                          <a:effectLst/>
                        </a:rPr>
                        <a:t>표 전체 입력(참고)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30/49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37/67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</a:rPr>
                        <a:t>8/14</a:t>
                      </a:r>
                      <a:endParaRPr lang="ko-KR" sz="16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30/70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105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52.5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</a:rPr>
                        <a:t>80 (40.0)</a:t>
                      </a:r>
                      <a:endParaRPr lang="ko-KR" sz="1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5400" marR="25400" marT="17907" marB="17907" anchor="ctr"/>
                </a:tc>
                <a:extLst>
                  <a:ext uri="{0D108BD9-81ED-4DB2-BD59-A6C34878D82A}">
                    <a16:rowId xmlns:a16="http://schemas.microsoft.com/office/drawing/2014/main" val="4176279345"/>
                  </a:ext>
                </a:extLst>
              </a:tr>
            </a:tbl>
          </a:graphicData>
        </a:graphic>
      </p:graphicFrame>
      <p:sp>
        <p:nvSpPr>
          <p:cNvPr id="30" name="각주 30"/>
          <p:cNvSpPr txBox="1"/>
          <p:nvPr/>
        </p:nvSpPr>
        <p:spPr>
          <a:xfrm>
            <a:off x="677162" y="5150000"/>
            <a:ext cx="10837675" cy="2923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300" dirty="0">
                <a:solidFill>
                  <a:srgbClr val="404040"/>
                </a:solidFill>
              </a:rPr>
              <a:t>맞힌 수·정확도 열은 논문 4.2.2절 채점 기준(조회 문항 표기 차이 허용), 공식 채점 열은 MultiHiertt 공식 채점 규칙만 적용한 결과.</a:t>
            </a:r>
          </a:p>
        </p:txBody>
      </p:sp>
      <p:sp>
        <p:nvSpPr>
          <p:cNvPr id="241" name="텍스트 241"/>
          <p:cNvSpPr txBox="1"/>
          <p:nvPr/>
        </p:nvSpPr>
        <p:spPr>
          <a:xfrm>
            <a:off x="676656" y="5532120"/>
            <a:ext cx="108356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제안 방법과 LangChain 청크, RAPTOR, TableRAG(Chen)의 차이는 Holm 보정 후에도 유의함(McNemar 검정)</a:t>
            </a:r>
          </a:p>
          <a:p>
            <a:pPr marL="274320" indent="-27432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1400" dirty="0"/>
              <a:t>표 전체 입력(참고)은 검색 없이 문서의 표 전체를 입력한 조건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722CEBCF-5329-8286-A061-83A29707B8C2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18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081116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C6A3F-40BF-3E70-D46C-E197C6EB6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88D3C-EA05-AF54-2446-6355A71E1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결론 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08B6818D-7064-0505-B3A7-A39C06315F03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19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96510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821AE-6633-F3CC-6B60-E99E8A353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D919F-84ED-8277-0FEF-CB53502B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242" name="텍스트 개체 틀"/>
          <p:cNvSpPr>
            <a:spLocks noGrp="1"/>
          </p:cNvSpPr>
          <p:nvPr>
            <p:ph type="body" sz="quarter" idx="11"/>
          </p:nvPr>
        </p:nvSpPr>
        <p:spPr>
          <a:xfrm>
            <a:off x="356616" y="1234440"/>
            <a:ext cx="11430000" cy="5120640"/>
          </a:xfrm>
        </p:spPr>
        <p:txBody>
          <a:bodyPr>
            <a:noAutofit/>
          </a:bodyPr>
          <a:lstStyle/>
          <a:p>
            <a:pPr marL="274320" indent="-274320" latinLnBrk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ko-KR" altLang="en-US" sz="2000" b="1" dirty="0"/>
              <a:t>검색: </a:t>
            </a:r>
            <a:r>
              <a:rPr lang="ko-KR" altLang="en-US" sz="2000" dirty="0"/>
              <a:t>문항당 20셀 전달, 재현율@20 </a:t>
            </a:r>
            <a:r>
              <a:rPr lang="en-US" altLang="ko-KR" sz="2000" dirty="0"/>
              <a:t>: </a:t>
            </a:r>
            <a:r>
              <a:rPr lang="ko-KR" altLang="en-US" sz="2000" dirty="0"/>
              <a:t>93.9%, 셀 정밀도@20 </a:t>
            </a:r>
            <a:r>
              <a:rPr lang="en-US" altLang="ko-KR" sz="2000" dirty="0"/>
              <a:t>: </a:t>
            </a:r>
            <a:r>
              <a:rPr lang="ko-KR" altLang="en-US" sz="2000" dirty="0"/>
              <a:t>11.0%</a:t>
            </a:r>
          </a:p>
          <a:p>
            <a:pPr marL="685800" indent="-274320" latinLnBrk="0">
              <a:spcBef>
                <a:spcPts val="400"/>
              </a:spcBef>
              <a:buFontTx/>
              <a:buChar char="-"/>
            </a:pPr>
            <a:r>
              <a:rPr lang="ko-KR" altLang="en-US" sz="1700" dirty="0"/>
              <a:t>LangChain 청크: 상위 4개 청크로 126.8셀 전달, 재현율 99.4%, 셀 정밀도 2.0%</a:t>
            </a:r>
          </a:p>
          <a:p>
            <a:pPr marL="274320" indent="-274320" latinLnBrk="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ko-KR" altLang="en-US" sz="2000" b="1" dirty="0"/>
              <a:t>답변 정확도: </a:t>
            </a:r>
            <a:r>
              <a:rPr lang="ko-KR" altLang="en-US" sz="1800" dirty="0"/>
              <a:t>57.5%로 LangChain 청크 39.5%, RAPTOR 38.5%, TableRAG(Chen) 13.5%보다 유의하게 높음</a:t>
            </a:r>
            <a:endParaRPr lang="ko-KR" altLang="en-US" sz="2000" dirty="0"/>
          </a:p>
          <a:p>
            <a:pPr marL="685800" indent="-274320" latinLnBrk="0">
              <a:spcBef>
                <a:spcPts val="400"/>
              </a:spcBef>
              <a:buFontTx/>
              <a:buChar char="-"/>
            </a:pPr>
            <a:r>
              <a:rPr lang="ko-KR" altLang="en-US" sz="1700" dirty="0"/>
              <a:t>TableRAG(Yu) 53.5%보다 4.0%p 높음</a:t>
            </a:r>
          </a:p>
          <a:p>
            <a:pPr marL="274320" indent="-274320" latinLnBrk="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ko-KR" altLang="en-US" sz="2000" dirty="0"/>
              <a:t>표 538개 한 색인 검색에서 캡션 추가 시 재현율@20 81.2% → 91.4%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B05763E6-73BB-A20D-513B-2F7ACA3E054C}"/>
              </a:ext>
            </a:extLst>
          </p:cNvPr>
          <p:cNvSpPr txBox="1">
            <a:spLocks/>
          </p:cNvSpPr>
          <p:nvPr/>
        </p:nvSpPr>
        <p:spPr>
          <a:xfrm>
            <a:off x="1524000" y="6412764"/>
            <a:ext cx="9144000" cy="89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/>
              <a:t>20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156180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</TotalTime>
  <Words>4694</Words>
  <Application>Microsoft Office PowerPoint</Application>
  <PresentationFormat>와이드스크린</PresentationFormat>
  <Paragraphs>506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맑은 고딕</vt:lpstr>
      <vt:lpstr>ADLaM Display</vt:lpstr>
      <vt:lpstr>Arial</vt:lpstr>
      <vt:lpstr>Cambria Math</vt:lpstr>
      <vt:lpstr>Consolas</vt:lpstr>
      <vt:lpstr>Office 테마</vt:lpstr>
      <vt:lpstr>계층형 표 문서의  셀 문장 검색 단위 기반 RAG</vt:lpstr>
      <vt:lpstr>목차</vt:lpstr>
      <vt:lpstr>서론</vt:lpstr>
      <vt:lpstr>연구 배경</vt:lpstr>
      <vt:lpstr>연구 배경</vt:lpstr>
      <vt:lpstr>연구 목표</vt:lpstr>
      <vt:lpstr>설계 및 구현</vt:lpstr>
      <vt:lpstr>시스템 구조 및 구성 요소</vt:lpstr>
      <vt:lpstr>머리글 경로 구성</vt:lpstr>
      <vt:lpstr>셀 문장 생성</vt:lpstr>
      <vt:lpstr>유사도 계산 예시</vt:lpstr>
      <vt:lpstr>실험 및 평가</vt:lpstr>
      <vt:lpstr>실험 환경</vt:lpstr>
      <vt:lpstr>실험 방법</vt:lpstr>
      <vt:lpstr>평가 지표</vt:lpstr>
      <vt:lpstr>실험 결과</vt:lpstr>
      <vt:lpstr>실험 결과</vt:lpstr>
      <vt:lpstr>실험 결과</vt:lpstr>
      <vt:lpstr>결론 </vt:lpstr>
      <vt:lpstr>결론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손한기</dc:creator>
  <cp:lastModifiedBy>유권환</cp:lastModifiedBy>
  <cp:revision>32</cp:revision>
  <dcterms:created xsi:type="dcterms:W3CDTF">2018-05-25T08:44:55Z</dcterms:created>
  <dcterms:modified xsi:type="dcterms:W3CDTF">2026-10-01T00:20:14Z</dcterms:modified>
  <cp:version/>
</cp:coreProperties>
</file>